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2"/>
  </p:notesMasterIdLst>
  <p:sldIdLst>
    <p:sldId id="256" r:id="rId2"/>
    <p:sldId id="257" r:id="rId3"/>
    <p:sldId id="258" r:id="rId4"/>
    <p:sldId id="279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70" r:id="rId14"/>
    <p:sldId id="271" r:id="rId15"/>
    <p:sldId id="272" r:id="rId16"/>
    <p:sldId id="274" r:id="rId17"/>
    <p:sldId id="275" r:id="rId18"/>
    <p:sldId id="276" r:id="rId19"/>
    <p:sldId id="277" r:id="rId20"/>
    <p:sldId id="273" r:id="rId21"/>
  </p:sldIdLst>
  <p:sldSz cx="9144000" cy="6858000" type="screen4x3"/>
  <p:notesSz cx="6735763" cy="9869488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3" d="100"/>
          <a:sy n="93" d="100"/>
        </p:scale>
        <p:origin x="-1138" y="2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1788" y="-78"/>
      </p:cViewPr>
      <p:guideLst>
        <p:guide orient="horz" pos="3109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4763" y="0"/>
            <a:ext cx="2919412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0113" y="739775"/>
            <a:ext cx="4935537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7888"/>
            <a:ext cx="5389563" cy="444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4188"/>
            <a:ext cx="2919413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D01ADC7-8EB8-4930-99F4-EDFC1A0C30B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29177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2 Marcador de notas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  <p:sp>
        <p:nvSpPr>
          <p:cNvPr id="25604" name="3 Marcador de número de diapositiva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40AA3A-3E84-441F-B802-6F8C60B33951}" type="slidenum">
              <a:rPr lang="es-ES" smtClean="0"/>
              <a:pPr/>
              <a:t>1</a:t>
            </a:fld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2 Marcador de notas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  <p:sp>
        <p:nvSpPr>
          <p:cNvPr id="26628" name="3 Marcador de número de diapositiva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BF08EF-E363-4D26-865F-72ED8BF3F804}" type="slidenum">
              <a:rPr lang="es-ES" smtClean="0"/>
              <a:pPr/>
              <a:t>2</a:t>
            </a:fld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2 Marcador de notas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  <p:sp>
        <p:nvSpPr>
          <p:cNvPr id="27652" name="3 Marcador de número de diapositiva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EAD7C8-8C39-416A-A897-D69D890256C4}" type="slidenum">
              <a:rPr lang="es-ES" smtClean="0"/>
              <a:pPr/>
              <a:t>3</a:t>
            </a:fld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2 Marcador de notas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  <p:sp>
        <p:nvSpPr>
          <p:cNvPr id="28676" name="3 Marcador de número de diapositiva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E19726-8B4D-49B8-86B3-0C9814112474}" type="slidenum">
              <a:rPr lang="es-ES" smtClean="0"/>
              <a:pPr/>
              <a:t>4</a:t>
            </a:fld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2 Marcador de notas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  <p:sp>
        <p:nvSpPr>
          <p:cNvPr id="29700" name="3 Marcador de número de diapositiva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353102-5C94-4324-A30C-497B19243E61}" type="slidenum">
              <a:rPr lang="es-ES" smtClean="0"/>
              <a:pPr/>
              <a:t>5</a:t>
            </a:fld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2 Marcador de notas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 smtClean="0"/>
          </a:p>
        </p:txBody>
      </p:sp>
      <p:sp>
        <p:nvSpPr>
          <p:cNvPr id="30724" name="3 Marcador de número de diapositiva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CDF93E-8987-4674-A069-FDEA75960E13}" type="slidenum">
              <a:rPr lang="es-ES" smtClean="0"/>
              <a:pPr/>
              <a:t>6</a:t>
            </a:fld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CD8812-51E4-4A85-AC7B-B8EE0945A763}" type="slidenum">
              <a:rPr lang="es-ES" smtClean="0"/>
              <a:pPr/>
              <a:t>7</a:t>
            </a:fld>
            <a:endParaRPr lang="es-E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s-ES" smtClean="0"/>
              <a:t>Nivel de seguridad: Las redes cliente/servidor son más seguras.</a:t>
            </a:r>
          </a:p>
          <a:p>
            <a:pPr eaLnBrk="1" hangingPunct="1"/>
            <a:r>
              <a:rPr lang="es-ES" smtClean="0"/>
              <a:t>Número de usuarios: Para un número de usuarios pequeño es más práctico y fácil administrar un grupo de trabajo</a:t>
            </a:r>
          </a:p>
          <a:p>
            <a:pPr eaLnBrk="1" hangingPunct="1"/>
            <a:r>
              <a:rPr lang="es-ES" smtClean="0"/>
              <a:t>Número de equipos: Pocos equipos, mejor grupo de trabajo.</a:t>
            </a:r>
          </a:p>
          <a:p>
            <a:pPr eaLnBrk="1" hangingPunct="1"/>
            <a:r>
              <a:rPr lang="es-ES" smtClean="0"/>
              <a:t>Evaluar la interoperabilidad de la red: la interoperabilidad basada en servidor es más sencilla de gestionar porque se localiza de forma centralizada, mientras que la basada en cliente requiere la instalación y configuración de cada equipo.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2 Marcador de notas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1" eaLnBrk="1" hangingPunct="1"/>
            <a:r>
              <a:rPr lang="es-ES" dirty="0" smtClean="0"/>
              <a:t>Servicios de compartición de recursos: Ponemos a disposición de los usuarios de la red: archivos, carpetas, impresoras o cualquier otro recurso de forma centralizada con un nivel de seguridad determinado.</a:t>
            </a:r>
          </a:p>
          <a:p>
            <a:pPr lvl="1" eaLnBrk="1" hangingPunct="1"/>
            <a:r>
              <a:rPr lang="es-ES" dirty="0" smtClean="0"/>
              <a:t>Seguridad: Windows proporciona seguridad para cualquier recurso de la red. Para acceder a cualquier recurso de la red, el usuario debe tener los derechos necesarios para realizar la tarea y los permisos adecuados para usar el recurso.</a:t>
            </a:r>
          </a:p>
          <a:p>
            <a:pPr lvl="1" eaLnBrk="1" hangingPunct="1"/>
            <a:r>
              <a:rPr lang="es-ES" dirty="0" smtClean="0"/>
              <a:t>Servicios de impresión: Cualquier servidor o cliente puede funcionar como servidor de impresión. El administrador de red no tendrá control total, si el servicio de impresión está montado sobre el cliente.</a:t>
            </a:r>
          </a:p>
          <a:p>
            <a:pPr lvl="1" eaLnBrk="1" hangingPunct="1"/>
            <a:r>
              <a:rPr lang="es-ES" dirty="0" smtClean="0"/>
              <a:t>Servicios de red: Windows proporciona distintos servicios de red que ayudan a la gestión global de un entorno de red.</a:t>
            </a:r>
          </a:p>
          <a:p>
            <a:pPr lvl="1" eaLnBrk="1" hangingPunct="1"/>
            <a:r>
              <a:rPr lang="es-ES" dirty="0" smtClean="0"/>
              <a:t>Interoperabilidad: Los distintos protocolos y servicios de red que gestiona un sistema Windows Server sirven para configurar un entrono de red mixto.</a:t>
            </a:r>
          </a:p>
        </p:txBody>
      </p:sp>
      <p:sp>
        <p:nvSpPr>
          <p:cNvPr id="32772" name="3 Marcador de número de diapositiva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DBA463-ED0F-4C92-9C9D-E6CF237697B5}" type="slidenum">
              <a:rPr lang="es-ES" smtClean="0"/>
              <a:pPr/>
              <a:t>8</a:t>
            </a:fld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s-ES" altLang="en-US"/>
              <a:t>Haga clic para cambiar el estilo de título	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s-ES" altLang="en-US"/>
              <a:t>Haga clic para modificar el estilo de subtítulo del patrón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04B57-B871-4260-92E6-AA235A573412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41DCF1-C17F-4FA4-BF51-2382A35DA4AA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9B6D60-14F1-4A62-8365-1DE3273E985E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0B93D3-7C38-4A18-823F-BD13BFBFB9EA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DDD7E9-63D0-4BC1-85E8-2E956D0E19B2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A31C0E-0B2F-474C-9C87-2CD6D4A4F166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4920B3-D222-487C-AF43-43D80F3502CE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3BFC14-8589-4DCB-BD65-5B88C6CF2A53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 smtClean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FA5BFF-261A-458F-8398-57F72914D410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C323F-EA38-4D99-A9EC-EDFEBA25BAC0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B8495D-1E5E-41EC-997B-44A27AD31464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ítulo y texto encima de l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558C5C-928D-41C3-B46D-F9AAFFC494EE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72C877-2B93-4B21-9400-551370DDF95E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7F5B3C-AD49-451C-A9DE-121F9BF08E03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 smtClean="0"/>
              <a:t>Haga clic para modificar el estilo de texto del patrón</a:t>
            </a:r>
          </a:p>
          <a:p>
            <a:pPr lvl="1"/>
            <a:r>
              <a:rPr lang="es-ES" altLang="en-US" smtClean="0"/>
              <a:t>Segundo nivel</a:t>
            </a:r>
          </a:p>
          <a:p>
            <a:pPr lvl="2"/>
            <a:r>
              <a:rPr lang="es-ES" altLang="en-US" smtClean="0"/>
              <a:t>Tercer nivel</a:t>
            </a:r>
          </a:p>
          <a:p>
            <a:pPr lvl="3"/>
            <a:r>
              <a:rPr lang="es-ES" altLang="en-US" smtClean="0"/>
              <a:t>Cuarto nivel</a:t>
            </a:r>
          </a:p>
          <a:p>
            <a:pPr lvl="4"/>
            <a:r>
              <a:rPr lang="es-ES" altLang="en-US" smtClean="0"/>
              <a:t>Quinto nivel</a:t>
            </a:r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430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</a:defRPr>
            </a:lvl1pPr>
          </a:lstStyle>
          <a:p>
            <a:pPr>
              <a:defRPr/>
            </a:pPr>
            <a:endParaRPr lang="es-ES" altLang="en-US"/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pPr>
              <a:defRPr/>
            </a:pPr>
            <a:fld id="{9CD51816-5434-4D99-A415-1445D4809072}" type="slidenum">
              <a:rPr lang="es-ES" altLang="en-US"/>
              <a:pPr>
                <a:defRPr/>
              </a:pPr>
              <a:t>‹Nº›</a:t>
            </a:fld>
            <a:endParaRPr lang="es-ES" altLang="en-US"/>
          </a:p>
        </p:txBody>
      </p:sp>
      <p:sp>
        <p:nvSpPr>
          <p:cNvPr id="43015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s-ES"/>
          </a:p>
        </p:txBody>
      </p:sp>
      <p:sp>
        <p:nvSpPr>
          <p:cNvPr id="43016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s-ES" smtClean="0"/>
              <a:t>TEMA1: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s-ES" smtClean="0"/>
              <a:t>INTRODUCCIÓN A LOS SSOO EN RED. REDES WINDOWS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mtClean="0"/>
              <a:t>1. INTRODUCCIÓN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2187575"/>
          </a:xfrm>
        </p:spPr>
        <p:txBody>
          <a:bodyPr/>
          <a:lstStyle/>
          <a:p>
            <a:pPr eaLnBrk="1" hangingPunct="1"/>
            <a:r>
              <a:rPr lang="es-ES" sz="2600" smtClean="0"/>
              <a:t>Una red de equipos es un sistema que mantiene varios equipos unidos para poder compartir recursos hardware y software.</a:t>
            </a:r>
          </a:p>
        </p:txBody>
      </p:sp>
      <p:pic>
        <p:nvPicPr>
          <p:cNvPr id="4100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1763713" y="3076575"/>
            <a:ext cx="6192837" cy="330517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mtClean="0"/>
              <a:t>1. INTRODUCCIÓN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52988"/>
          </a:xfrm>
        </p:spPr>
        <p:txBody>
          <a:bodyPr/>
          <a:lstStyle/>
          <a:p>
            <a:pPr eaLnBrk="1" hangingPunct="1"/>
            <a:r>
              <a:rPr lang="es-ES" smtClean="0"/>
              <a:t>Un sistema operativo en red permite una gestión centralizada de recursos.</a:t>
            </a:r>
          </a:p>
          <a:p>
            <a:pPr eaLnBrk="1" hangingPunct="1"/>
            <a:r>
              <a:rPr lang="es-ES" smtClean="0"/>
              <a:t>Sin él, la red se convertirá en un grupo de trabajo.</a:t>
            </a:r>
          </a:p>
          <a:p>
            <a:pPr eaLnBrk="1" hangingPunct="1"/>
            <a:r>
              <a:rPr lang="es-ES" smtClean="0"/>
              <a:t>Los sistemas operativos en red más usados son: Novell Netware, Windows Server, Unix, Linux, etc.</a:t>
            </a:r>
          </a:p>
          <a:p>
            <a:pPr eaLnBrk="1" hangingPunct="1"/>
            <a:r>
              <a:rPr lang="es-ES" smtClean="0"/>
              <a:t>En un entorno de red se diferencian claramente los </a:t>
            </a:r>
            <a:r>
              <a:rPr lang="es-ES" u="sng" smtClean="0"/>
              <a:t>clientes</a:t>
            </a:r>
            <a:r>
              <a:rPr lang="es-ES" smtClean="0"/>
              <a:t> y los </a:t>
            </a:r>
            <a:r>
              <a:rPr lang="es-ES" u="sng" smtClean="0"/>
              <a:t>servidores</a:t>
            </a:r>
            <a:r>
              <a:rPr lang="es-ES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_tradnl" smtClean="0"/>
              <a:t>1. INTRODUCCIÓN</a:t>
            </a:r>
            <a:endParaRPr lang="es-ES" smtClean="0"/>
          </a:p>
        </p:txBody>
      </p:sp>
      <p:sp>
        <p:nvSpPr>
          <p:cNvPr id="6147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_tradnl" smtClean="0"/>
              <a:t>CLIENTES:  Equipos configurados con SO monopuesto, que se conectan y validan al servidor para poder empezar a trabajar en la red.</a:t>
            </a:r>
          </a:p>
          <a:p>
            <a:pPr eaLnBrk="1" hangingPunct="1"/>
            <a:r>
              <a:rPr lang="es-ES_tradnl" smtClean="0"/>
              <a:t>SERVIDORES: Equipos configurados con SO de red que proporcionan recursos a los clientes .</a:t>
            </a:r>
            <a:endParaRPr lang="es-E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3800" smtClean="0"/>
              <a:t>1.1 FUNCIONES DE UN SO EN RED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529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ES" smtClean="0"/>
              <a:t>Conecta todos los equipos y recursos de la red.</a:t>
            </a:r>
          </a:p>
          <a:p>
            <a:pPr eaLnBrk="1" hangingPunct="1">
              <a:lnSpc>
                <a:spcPct val="90000"/>
              </a:lnSpc>
            </a:pPr>
            <a:r>
              <a:rPr lang="es-ES" smtClean="0"/>
              <a:t>Coordina las funciones de todos los periféricos y recursos.</a:t>
            </a:r>
          </a:p>
          <a:p>
            <a:pPr eaLnBrk="1" hangingPunct="1">
              <a:lnSpc>
                <a:spcPct val="90000"/>
              </a:lnSpc>
            </a:pPr>
            <a:r>
              <a:rPr lang="es-ES" smtClean="0"/>
              <a:t>Proporciona seguridad controlando el acceso a los datos y recursos.</a:t>
            </a:r>
          </a:p>
          <a:p>
            <a:pPr eaLnBrk="1" hangingPunct="1">
              <a:lnSpc>
                <a:spcPct val="90000"/>
              </a:lnSpc>
            </a:pPr>
            <a:r>
              <a:rPr lang="es-ES" smtClean="0"/>
              <a:t>Optimiza la utilización de los recursos.</a:t>
            </a:r>
          </a:p>
          <a:p>
            <a:pPr eaLnBrk="1" hangingPunct="1">
              <a:lnSpc>
                <a:spcPct val="90000"/>
              </a:lnSpc>
            </a:pPr>
            <a:r>
              <a:rPr lang="es-ES" smtClean="0"/>
              <a:t>La gestión de recursos y equipos de la red se realiza de forma centralizada.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77813"/>
            <a:ext cx="8893175" cy="1139825"/>
          </a:xfrm>
        </p:spPr>
        <p:txBody>
          <a:bodyPr/>
          <a:lstStyle/>
          <a:p>
            <a:pPr eaLnBrk="1" hangingPunct="1"/>
            <a:r>
              <a:rPr lang="es-ES" sz="3800" smtClean="0"/>
              <a:t>1.2 CARACTERÍSTICAS QUE PERMITE UN SO EN RED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244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ES" smtClean="0"/>
              <a:t>Compartir recursos: </a:t>
            </a:r>
          </a:p>
          <a:p>
            <a:pPr lvl="1" eaLnBrk="1" hangingPunct="1">
              <a:lnSpc>
                <a:spcPct val="90000"/>
              </a:lnSpc>
            </a:pPr>
            <a:r>
              <a:rPr lang="es-ES" smtClean="0"/>
              <a:t>Distintos usuarios con diferentes niveles de acceso a los recursos (privilegios)</a:t>
            </a:r>
          </a:p>
          <a:p>
            <a:pPr lvl="1" eaLnBrk="1" hangingPunct="1">
              <a:lnSpc>
                <a:spcPct val="90000"/>
              </a:lnSpc>
            </a:pPr>
            <a:r>
              <a:rPr lang="es-ES" smtClean="0"/>
              <a:t>Coordinación en el acceso a los recursos</a:t>
            </a:r>
          </a:p>
          <a:p>
            <a:pPr eaLnBrk="1" hangingPunct="1">
              <a:lnSpc>
                <a:spcPct val="90000"/>
              </a:lnSpc>
            </a:pPr>
            <a:r>
              <a:rPr lang="es-ES" smtClean="0"/>
              <a:t>Gestión de usuarios</a:t>
            </a:r>
          </a:p>
          <a:p>
            <a:pPr lvl="1" eaLnBrk="1" hangingPunct="1">
              <a:lnSpc>
                <a:spcPct val="90000"/>
              </a:lnSpc>
            </a:pPr>
            <a:r>
              <a:rPr lang="es-ES" smtClean="0"/>
              <a:t>Crear, borrar o modificar usuarios y grupos</a:t>
            </a:r>
          </a:p>
          <a:p>
            <a:pPr lvl="1" eaLnBrk="1" hangingPunct="1">
              <a:lnSpc>
                <a:spcPct val="90000"/>
              </a:lnSpc>
            </a:pPr>
            <a:r>
              <a:rPr lang="es-ES" smtClean="0"/>
              <a:t>Otorgar o quitar permisos de usuarios a los recursos de la red</a:t>
            </a:r>
          </a:p>
          <a:p>
            <a:pPr eaLnBrk="1" hangingPunct="1">
              <a:lnSpc>
                <a:spcPct val="90000"/>
              </a:lnSpc>
            </a:pPr>
            <a:r>
              <a:rPr lang="es-ES" smtClean="0"/>
              <a:t>Gestión de la red: </a:t>
            </a:r>
          </a:p>
          <a:p>
            <a:pPr lvl="1" eaLnBrk="1" hangingPunct="1">
              <a:lnSpc>
                <a:spcPct val="90000"/>
              </a:lnSpc>
            </a:pPr>
            <a:r>
              <a:rPr lang="es-ES" smtClean="0"/>
              <a:t>Controlar el comportamiento de la 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88913"/>
            <a:ext cx="8893175" cy="1143000"/>
          </a:xfrm>
        </p:spPr>
        <p:txBody>
          <a:bodyPr/>
          <a:lstStyle/>
          <a:p>
            <a:pPr eaLnBrk="1" hangingPunct="1"/>
            <a:r>
              <a:rPr lang="es-ES" sz="3800" smtClean="0"/>
              <a:t>2. SELECCIÓN DE UN SO EN RED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908050"/>
            <a:ext cx="6121400" cy="5218113"/>
          </a:xfrm>
        </p:spPr>
        <p:txBody>
          <a:bodyPr/>
          <a:lstStyle/>
          <a:p>
            <a:pPr eaLnBrk="1" hangingPunct="1"/>
            <a:r>
              <a:rPr lang="es-ES_tradnl" smtClean="0"/>
              <a:t>Antes de elegir un SO en red hay que decidir la arquitectura de red que mejor se ajusta a nuestras necesidades (grupo de trabajo o cliente/servidor)</a:t>
            </a:r>
            <a:endParaRPr lang="es-ES" smtClean="0"/>
          </a:p>
          <a:p>
            <a:pPr eaLnBrk="1" hangingPunct="1"/>
            <a:r>
              <a:rPr lang="es-ES" sz="2600" smtClean="0"/>
              <a:t>Nivel de seguridad</a:t>
            </a:r>
          </a:p>
          <a:p>
            <a:pPr eaLnBrk="1" hangingPunct="1"/>
            <a:r>
              <a:rPr lang="es-ES" sz="2600" smtClean="0"/>
              <a:t>Número de usuarios </a:t>
            </a:r>
          </a:p>
          <a:p>
            <a:pPr eaLnBrk="1" hangingPunct="1"/>
            <a:r>
              <a:rPr lang="es-ES" sz="2600" smtClean="0"/>
              <a:t>Número de equipos</a:t>
            </a:r>
          </a:p>
          <a:p>
            <a:pPr eaLnBrk="1" hangingPunct="1"/>
            <a:r>
              <a:rPr lang="es-ES" sz="2600" smtClean="0"/>
              <a:t>Evaluar la interoperabilidad de la red</a:t>
            </a:r>
          </a:p>
        </p:txBody>
      </p:sp>
      <p:pic>
        <p:nvPicPr>
          <p:cNvPr id="9220" name="Picture 7" descr="config-red-1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6300788" y="836613"/>
            <a:ext cx="2586037" cy="3240087"/>
          </a:xfrm>
          <a:noFill/>
        </p:spPr>
      </p:pic>
      <p:pic>
        <p:nvPicPr>
          <p:cNvPr id="9221" name="Picture 8" descr="Cliente-servidor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/>
          <a:srcRect/>
          <a:stretch>
            <a:fillRect/>
          </a:stretch>
        </p:blipFill>
        <p:spPr>
          <a:xfrm>
            <a:off x="6227763" y="4389438"/>
            <a:ext cx="2916237" cy="2303462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mtClean="0"/>
              <a:t>2.1.A. SO EN RED WINDOWS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8229600" cy="5184775"/>
          </a:xfrm>
        </p:spPr>
        <p:txBody>
          <a:bodyPr/>
          <a:lstStyle/>
          <a:p>
            <a:pPr eaLnBrk="1" hangingPunct="1"/>
            <a:r>
              <a:rPr lang="es-ES" smtClean="0"/>
              <a:t>Windows trabaja sobre un dominio (colección de equipos que comparten una política de seguridad y una base de datos común).</a:t>
            </a:r>
          </a:p>
          <a:p>
            <a:pPr eaLnBrk="1" hangingPunct="1"/>
            <a:r>
              <a:rPr lang="es-ES" smtClean="0"/>
              <a:t>Los servicios que proporciona este SO son:</a:t>
            </a:r>
          </a:p>
          <a:p>
            <a:pPr lvl="1" eaLnBrk="1" hangingPunct="1"/>
            <a:r>
              <a:rPr lang="es-ES" smtClean="0"/>
              <a:t>Servicios de compartición de recursos</a:t>
            </a:r>
          </a:p>
          <a:p>
            <a:pPr lvl="1" eaLnBrk="1" hangingPunct="1"/>
            <a:r>
              <a:rPr lang="es-ES" smtClean="0"/>
              <a:t>Seguridad</a:t>
            </a:r>
          </a:p>
          <a:p>
            <a:pPr lvl="1" eaLnBrk="1" hangingPunct="1"/>
            <a:r>
              <a:rPr lang="es-ES" smtClean="0"/>
              <a:t>Servicios de impresión</a:t>
            </a:r>
          </a:p>
          <a:p>
            <a:pPr lvl="1" eaLnBrk="1" hangingPunct="1"/>
            <a:r>
              <a:rPr lang="es-ES" smtClean="0"/>
              <a:t>Servicios de red</a:t>
            </a:r>
          </a:p>
          <a:p>
            <a:pPr lvl="1" eaLnBrk="1" hangingPunct="1"/>
            <a:r>
              <a:rPr lang="es-ES" smtClean="0"/>
              <a:t>Interoperabilidad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mtClean="0"/>
              <a:t>2.1.B. SO EN RED UNIX/LINUX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41438"/>
            <a:ext cx="8229600" cy="3024187"/>
          </a:xfrm>
        </p:spPr>
        <p:txBody>
          <a:bodyPr/>
          <a:lstStyle/>
          <a:p>
            <a:pPr eaLnBrk="1" hangingPunct="1"/>
            <a:r>
              <a:rPr lang="es-ES" sz="2600" smtClean="0"/>
              <a:t>S.O. multiusuario y multitarea.</a:t>
            </a:r>
          </a:p>
          <a:p>
            <a:pPr eaLnBrk="1" hangingPunct="1"/>
            <a:r>
              <a:rPr lang="es-ES" sz="2600" smtClean="0"/>
              <a:t>Normalmente un sistema Unix/Linux está constituido por un equipo central y múltiples terminales para los usuarios.</a:t>
            </a:r>
          </a:p>
          <a:p>
            <a:pPr eaLnBrk="1" hangingPunct="1"/>
            <a:r>
              <a:rPr lang="es-ES" sz="2600" smtClean="0"/>
              <a:t>Cualquiera de sus versiones puede funcionar como cliente o como servidor.</a:t>
            </a:r>
          </a:p>
          <a:p>
            <a:pPr eaLnBrk="1" hangingPunct="1">
              <a:buFont typeface="Wingdings" pitchFamily="2" charset="2"/>
              <a:buNone/>
            </a:pPr>
            <a:endParaRPr lang="es-ES" sz="2600" smtClean="0"/>
          </a:p>
        </p:txBody>
      </p:sp>
      <p:pic>
        <p:nvPicPr>
          <p:cNvPr id="11268" name="Picture 5" descr="ubuntu-penguin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5148263" y="3789363"/>
            <a:ext cx="2913062" cy="2187575"/>
          </a:xfr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pPr eaLnBrk="1" hangingPunct="1"/>
            <a:r>
              <a:rPr lang="es-ES" sz="3800" smtClean="0"/>
              <a:t>2.2 INTEGRACIÓN DE SO EN REDES MIXTAS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484313"/>
            <a:ext cx="8229600" cy="2908300"/>
          </a:xfrm>
        </p:spPr>
        <p:txBody>
          <a:bodyPr/>
          <a:lstStyle/>
          <a:p>
            <a:pPr eaLnBrk="1" hangingPunct="1"/>
            <a:r>
              <a:rPr lang="es-ES" sz="2600" smtClean="0"/>
              <a:t>Los clientes de una red pueden ser equipos con S.O. Windows o Linux.</a:t>
            </a:r>
          </a:p>
          <a:p>
            <a:pPr eaLnBrk="1" hangingPunct="1"/>
            <a:r>
              <a:rPr lang="es-ES" sz="2600" smtClean="0"/>
              <a:t>Los servidores pueden ser Windows Server o Linux.</a:t>
            </a:r>
          </a:p>
          <a:p>
            <a:pPr eaLnBrk="1" hangingPunct="1"/>
            <a:r>
              <a:rPr lang="es-ES" sz="2600" smtClean="0"/>
              <a:t>Al montar una red podremos mezclar equipos de uno y otro tipo sin problemas.</a:t>
            </a:r>
          </a:p>
        </p:txBody>
      </p:sp>
      <p:pic>
        <p:nvPicPr>
          <p:cNvPr id="12292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2484438" y="3933825"/>
            <a:ext cx="4175125" cy="2462213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z="3800" dirty="0" smtClean="0"/>
              <a:t>3.2. REQUISITOS HARDWARE PARA WINDOWS </a:t>
            </a:r>
            <a:r>
              <a:rPr lang="es-ES" sz="3800" dirty="0" smtClean="0"/>
              <a:t>2016 </a:t>
            </a:r>
            <a:r>
              <a:rPr lang="es-ES" sz="3800" dirty="0" smtClean="0"/>
              <a:t>SERVER STANDARD</a:t>
            </a:r>
          </a:p>
        </p:txBody>
      </p:sp>
      <p:graphicFrame>
        <p:nvGraphicFramePr>
          <p:cNvPr id="6" name="5 Marcador de contenido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endParaRPr lang="es-ES" dirty="0" smtClean="0"/>
                    </a:p>
                    <a:p>
                      <a:r>
                        <a:rPr lang="es-ES" dirty="0" smtClean="0"/>
                        <a:t>Componente</a:t>
                      </a:r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 smtClean="0"/>
                    </a:p>
                    <a:p>
                      <a:r>
                        <a:rPr lang="es-ES" dirty="0" smtClean="0"/>
                        <a:t>Mínimo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 smtClean="0"/>
                    </a:p>
                    <a:p>
                      <a:r>
                        <a:rPr lang="es-ES" dirty="0" smtClean="0"/>
                        <a:t>Recomendado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 smtClean="0"/>
                    </a:p>
                    <a:p>
                      <a:r>
                        <a:rPr lang="es-ES" dirty="0" smtClean="0"/>
                        <a:t>Máximo</a:t>
                      </a:r>
                      <a:endParaRPr lang="es-E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ES" dirty="0" smtClean="0"/>
                    </a:p>
                    <a:p>
                      <a:r>
                        <a:rPr lang="es-ES" dirty="0" smtClean="0"/>
                        <a:t>Procesador</a:t>
                      </a:r>
                    </a:p>
                    <a:p>
                      <a:endParaRPr lang="es-E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 smtClean="0"/>
                    </a:p>
                    <a:p>
                      <a:r>
                        <a:rPr lang="es-ES" dirty="0" smtClean="0"/>
                        <a:t>1.4 GHZ 64 bits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 smtClean="0"/>
                    </a:p>
                    <a:p>
                      <a:r>
                        <a:rPr lang="es-ES" dirty="0" smtClean="0"/>
                        <a:t>2 GHZ o superior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ES" dirty="0" smtClean="0"/>
                    </a:p>
                    <a:p>
                      <a:r>
                        <a:rPr lang="es-ES" dirty="0" smtClean="0"/>
                        <a:t>Memoria RAM</a:t>
                      </a:r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 smtClean="0"/>
                    </a:p>
                    <a:p>
                      <a:r>
                        <a:rPr lang="es-ES" dirty="0" smtClean="0"/>
                        <a:t>512 MB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 smtClean="0"/>
                    </a:p>
                    <a:p>
                      <a:r>
                        <a:rPr lang="es-ES" dirty="0" smtClean="0"/>
                        <a:t>2 GB</a:t>
                      </a:r>
                      <a:r>
                        <a:rPr lang="es-ES" baseline="0" dirty="0" smtClean="0"/>
                        <a:t> o más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 smtClean="0"/>
                    </a:p>
                    <a:p>
                      <a:r>
                        <a:rPr lang="es-ES" dirty="0" smtClean="0"/>
                        <a:t>32 GB Standard </a:t>
                      </a:r>
                    </a:p>
                    <a:p>
                      <a:r>
                        <a:rPr lang="es-ES" dirty="0" smtClean="0"/>
                        <a:t>4 TB </a:t>
                      </a:r>
                      <a:r>
                        <a:rPr lang="es-ES" dirty="0" err="1" smtClean="0"/>
                        <a:t>Datacenter</a:t>
                      </a:r>
                      <a:endParaRPr lang="es-ES" dirty="0" smtClean="0"/>
                    </a:p>
                    <a:p>
                      <a:endParaRPr lang="es-E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s-ES" dirty="0" smtClean="0"/>
                    </a:p>
                    <a:p>
                      <a:r>
                        <a:rPr lang="es-ES" dirty="0" smtClean="0"/>
                        <a:t>Espacio</a:t>
                      </a:r>
                      <a:r>
                        <a:rPr lang="es-ES" baseline="0" dirty="0" smtClean="0"/>
                        <a:t> en disco</a:t>
                      </a:r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 smtClean="0"/>
                    </a:p>
                    <a:p>
                      <a:r>
                        <a:rPr lang="es-ES" dirty="0" smtClean="0"/>
                        <a:t>32 GB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 smtClean="0"/>
                    </a:p>
                    <a:p>
                      <a:r>
                        <a:rPr lang="es-ES" dirty="0" smtClean="0"/>
                        <a:t>40 GB instalación completa</a:t>
                      </a:r>
                    </a:p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686800" cy="1139825"/>
          </a:xfrm>
        </p:spPr>
        <p:txBody>
          <a:bodyPr/>
          <a:lstStyle/>
          <a:p>
            <a:pPr eaLnBrk="1" hangingPunct="1"/>
            <a:r>
              <a:rPr lang="es-ES" sz="3800" smtClean="0"/>
              <a:t>3.3. SISTEMA DE ARCHIVOS EN WINDOWS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ES" smtClean="0"/>
              <a:t>FAT: Este sistema detalla a través de una tabla en qué sectores del disco duro se encuentra cada archivo. Se monta en equipos clientes.</a:t>
            </a:r>
          </a:p>
          <a:p>
            <a:pPr eaLnBrk="1" hangingPunct="1"/>
            <a:r>
              <a:rPr lang="es-ES" smtClean="0"/>
              <a:t>NTFS: Permite definir derechos sobre archivos y directorios de forma individual para los usuarios o grupos. El acceso a los archivos es más rápido.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mtClean="0"/>
              <a:t>6. COMPONENTES A INSTALAR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4438"/>
            <a:ext cx="8229600" cy="5383212"/>
          </a:xfrm>
        </p:spPr>
        <p:txBody>
          <a:bodyPr/>
          <a:lstStyle/>
          <a:p>
            <a:pPr algn="just" eaLnBrk="1" hangingPunct="1"/>
            <a:r>
              <a:rPr lang="es-ES" dirty="0" smtClean="0"/>
              <a:t>Windows </a:t>
            </a:r>
            <a:r>
              <a:rPr lang="es-ES" dirty="0" smtClean="0"/>
              <a:t>2016 </a:t>
            </a:r>
            <a:r>
              <a:rPr lang="es-ES" dirty="0" smtClean="0"/>
              <a:t>Server no se comporta como servidor de red hasta que posteriormente ejecutemos las acciones adecuadas para ajustar la funcionalidad del mismo a la de servidor de red.</a:t>
            </a:r>
          </a:p>
          <a:p>
            <a:pPr algn="just" eaLnBrk="1" hangingPunct="1"/>
            <a:r>
              <a:rPr lang="es-ES" dirty="0" smtClean="0"/>
              <a:t>Para instalar los componentes hay que iniciar sesión en el sistema como Administrador del equipo.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229600" cy="850900"/>
          </a:xfrm>
        </p:spPr>
        <p:txBody>
          <a:bodyPr/>
          <a:lstStyle/>
          <a:p>
            <a:pPr eaLnBrk="1" hangingPunct="1"/>
            <a:r>
              <a:rPr lang="es-ES" smtClean="0"/>
              <a:t>6. COMPONENTES A INSTALAR</a:t>
            </a:r>
          </a:p>
        </p:txBody>
      </p:sp>
      <p:pic>
        <p:nvPicPr>
          <p:cNvPr id="1638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403350" y="952500"/>
            <a:ext cx="6480175" cy="59055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229600" cy="1143000"/>
          </a:xfrm>
        </p:spPr>
        <p:txBody>
          <a:bodyPr/>
          <a:lstStyle/>
          <a:p>
            <a:pPr eaLnBrk="1" hangingPunct="1"/>
            <a:r>
              <a:rPr lang="es-ES" smtClean="0"/>
              <a:t>7. INSTALACIÓN DE UN SO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8147050" cy="5399087"/>
          </a:xfrm>
        </p:spPr>
        <p:txBody>
          <a:bodyPr/>
          <a:lstStyle/>
          <a:p>
            <a:pPr eaLnBrk="1" hangingPunct="1"/>
            <a:r>
              <a:rPr lang="es-ES" smtClean="0"/>
              <a:t>PLANIFICACIÓN:</a:t>
            </a:r>
          </a:p>
          <a:p>
            <a:pPr lvl="1" eaLnBrk="1" hangingPunct="1"/>
            <a:r>
              <a:rPr lang="es-ES" smtClean="0"/>
              <a:t>¿Cuál es el uso planeado para el sistema?</a:t>
            </a:r>
          </a:p>
          <a:p>
            <a:pPr lvl="1" eaLnBrk="1" hangingPunct="1"/>
            <a:r>
              <a:rPr lang="es-ES" smtClean="0"/>
              <a:t>¿Quién lo va a usar?</a:t>
            </a:r>
          </a:p>
          <a:p>
            <a:pPr lvl="1" eaLnBrk="1" hangingPunct="1"/>
            <a:r>
              <a:rPr lang="es-ES" smtClean="0"/>
              <a:t>¿Existen perspectivas de que esto cambie a corto, medio o largo plazo?</a:t>
            </a:r>
          </a:p>
          <a:p>
            <a:pPr lvl="1" eaLnBrk="1" hangingPunct="1"/>
            <a:r>
              <a:rPr lang="es-ES" smtClean="0"/>
              <a:t>¿De qué recursos se dispone?</a:t>
            </a:r>
          </a:p>
          <a:p>
            <a:pPr lvl="1" eaLnBrk="1" hangingPunct="1"/>
            <a:r>
              <a:rPr lang="es-ES" smtClean="0"/>
              <a:t>¿Por qué y para qué necesito un sistema informático?</a:t>
            </a:r>
          </a:p>
          <a:p>
            <a:pPr lvl="1" eaLnBrk="1" hangingPunct="1"/>
            <a:r>
              <a:rPr lang="es-ES" smtClean="0"/>
              <a:t>Compatibilidad del SO cliente y servidor con el hardware. </a:t>
            </a:r>
          </a:p>
          <a:p>
            <a:pPr lvl="1" eaLnBrk="1" hangingPunct="1"/>
            <a:r>
              <a:rPr lang="es-ES" smtClean="0"/>
              <a:t>Soporte de drivers para clientes y servidores</a:t>
            </a:r>
          </a:p>
          <a:p>
            <a:pPr eaLnBrk="1" hangingPunct="1"/>
            <a:endParaRPr lang="es-ES"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964612" cy="1143000"/>
          </a:xfrm>
        </p:spPr>
        <p:txBody>
          <a:bodyPr/>
          <a:lstStyle/>
          <a:p>
            <a:pPr eaLnBrk="1" hangingPunct="1"/>
            <a:r>
              <a:rPr lang="es-ES" smtClean="0"/>
              <a:t>7. INSTALACIÓN DE UN SO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052513"/>
            <a:ext cx="8147050" cy="5805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ES" smtClean="0"/>
              <a:t>INSTALACIÓN:</a:t>
            </a:r>
          </a:p>
          <a:p>
            <a:pPr lvl="1" eaLnBrk="1" hangingPunct="1">
              <a:lnSpc>
                <a:spcPct val="90000"/>
              </a:lnSpc>
            </a:pPr>
            <a:r>
              <a:rPr lang="es-ES" smtClean="0"/>
              <a:t>Configurar el equipo para arrancar desde CD/DVD</a:t>
            </a:r>
          </a:p>
          <a:p>
            <a:pPr lvl="1" eaLnBrk="1" hangingPunct="1">
              <a:lnSpc>
                <a:spcPct val="90000"/>
              </a:lnSpc>
            </a:pPr>
            <a:r>
              <a:rPr lang="es-ES" smtClean="0"/>
              <a:t>Preparación del disco duro.</a:t>
            </a:r>
          </a:p>
          <a:p>
            <a:pPr lvl="1" eaLnBrk="1" hangingPunct="1">
              <a:lnSpc>
                <a:spcPct val="90000"/>
              </a:lnSpc>
            </a:pPr>
            <a:r>
              <a:rPr lang="es-ES" smtClean="0"/>
              <a:t>Ejecutar el programa de instalación</a:t>
            </a:r>
          </a:p>
          <a:p>
            <a:pPr lvl="1" eaLnBrk="1" hangingPunct="1">
              <a:lnSpc>
                <a:spcPct val="90000"/>
              </a:lnSpc>
            </a:pPr>
            <a:r>
              <a:rPr lang="es-ES" smtClean="0"/>
              <a:t>Nombre y contraseña del administrador</a:t>
            </a:r>
          </a:p>
          <a:p>
            <a:pPr lvl="1" eaLnBrk="1" hangingPunct="1">
              <a:lnSpc>
                <a:spcPct val="90000"/>
              </a:lnSpc>
            </a:pPr>
            <a:r>
              <a:rPr lang="es-ES" smtClean="0"/>
              <a:t>Seleccionar los componentes software opcionales</a:t>
            </a:r>
          </a:p>
          <a:p>
            <a:pPr lvl="1" eaLnBrk="1" hangingPunct="1">
              <a:lnSpc>
                <a:spcPct val="90000"/>
              </a:lnSpc>
            </a:pPr>
            <a:r>
              <a:rPr lang="es-ES" smtClean="0"/>
              <a:t>Ajustar los parámetros de red</a:t>
            </a:r>
          </a:p>
          <a:p>
            <a:pPr lvl="1" eaLnBrk="1" hangingPunct="1">
              <a:lnSpc>
                <a:spcPct val="90000"/>
              </a:lnSpc>
            </a:pPr>
            <a:r>
              <a:rPr lang="es-ES" smtClean="0"/>
              <a:t>Configurar el gestor de arranque</a:t>
            </a:r>
          </a:p>
          <a:p>
            <a:pPr lvl="1" eaLnBrk="1" hangingPunct="1">
              <a:lnSpc>
                <a:spcPct val="90000"/>
              </a:lnSpc>
            </a:pPr>
            <a:r>
              <a:rPr lang="es-ES" smtClean="0"/>
              <a:t>Realizar actualizaciones de seguridad</a:t>
            </a:r>
          </a:p>
          <a:p>
            <a:pPr lvl="1" eaLnBrk="1" hangingPunct="1">
              <a:lnSpc>
                <a:spcPct val="90000"/>
              </a:lnSpc>
            </a:pPr>
            <a:r>
              <a:rPr lang="es-ES" smtClean="0"/>
              <a:t>Instalar los plugins del navegador</a:t>
            </a:r>
          </a:p>
          <a:p>
            <a:pPr lvl="1" eaLnBrk="1" hangingPunct="1">
              <a:lnSpc>
                <a:spcPct val="90000"/>
              </a:lnSpc>
            </a:pPr>
            <a:r>
              <a:rPr lang="es-ES" smtClean="0"/>
              <a:t>Instalar los drivers necesarios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188913"/>
            <a:ext cx="8229600" cy="1143000"/>
          </a:xfrm>
        </p:spPr>
        <p:txBody>
          <a:bodyPr/>
          <a:lstStyle/>
          <a:p>
            <a:pPr eaLnBrk="1" hangingPunct="1"/>
            <a:r>
              <a:rPr lang="es-ES" smtClean="0"/>
              <a:t>7. INSTALACIÓN DE UN SO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25538"/>
            <a:ext cx="8147050" cy="5399087"/>
          </a:xfrm>
        </p:spPr>
        <p:txBody>
          <a:bodyPr/>
          <a:lstStyle/>
          <a:p>
            <a:pPr eaLnBrk="1" hangingPunct="1"/>
            <a:r>
              <a:rPr lang="es-ES" smtClean="0"/>
              <a:t>DOCUMENTACIÓN:</a:t>
            </a:r>
          </a:p>
          <a:p>
            <a:pPr lvl="1" eaLnBrk="1" hangingPunct="1"/>
            <a:r>
              <a:rPr lang="es-ES" smtClean="0"/>
              <a:t>Fecha y hora de la instalación</a:t>
            </a:r>
          </a:p>
          <a:p>
            <a:pPr lvl="1" eaLnBrk="1" hangingPunct="1"/>
            <a:r>
              <a:rPr lang="es-ES" smtClean="0"/>
              <a:t>Especificaciones hardware del equipo servidor</a:t>
            </a:r>
          </a:p>
          <a:p>
            <a:pPr lvl="1" eaLnBrk="1" hangingPunct="1"/>
            <a:r>
              <a:rPr lang="es-ES" smtClean="0"/>
              <a:t>Datos introducidos en el proceso de instalación</a:t>
            </a:r>
          </a:p>
          <a:p>
            <a:pPr lvl="1" eaLnBrk="1" hangingPunct="1"/>
            <a:r>
              <a:rPr lang="es-ES" smtClean="0"/>
              <a:t>Software adicional instalado</a:t>
            </a:r>
          </a:p>
          <a:p>
            <a:pPr lvl="1" eaLnBrk="1" hangingPunct="1"/>
            <a:r>
              <a:rPr lang="es-ES" smtClean="0"/>
              <a:t>Configuración de la red</a:t>
            </a:r>
          </a:p>
          <a:p>
            <a:pPr lvl="1" eaLnBrk="1" hangingPunct="1"/>
            <a:r>
              <a:rPr lang="es-ES" smtClean="0"/>
              <a:t>Incidencias producidas durante el proceso de instalación</a:t>
            </a:r>
          </a:p>
          <a:p>
            <a:pPr lvl="1" eaLnBrk="1" hangingPunct="1"/>
            <a:endParaRPr lang="es-ES" smtClean="0"/>
          </a:p>
          <a:p>
            <a:pPr eaLnBrk="1" hangingPunct="1"/>
            <a:endParaRPr lang="es-E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mtClean="0"/>
              <a:t>7. INSTALACIÓN DE UN SO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96950" y="1125538"/>
            <a:ext cx="8147050" cy="5399087"/>
          </a:xfrm>
        </p:spPr>
        <p:txBody>
          <a:bodyPr/>
          <a:lstStyle/>
          <a:p>
            <a:pPr lvl="1" eaLnBrk="1" hangingPunct="1"/>
            <a:endParaRPr lang="es-ES" smtClean="0"/>
          </a:p>
          <a:p>
            <a:pPr eaLnBrk="1" hangingPunct="1"/>
            <a:endParaRPr lang="es-ES" smtClean="0"/>
          </a:p>
        </p:txBody>
      </p:sp>
      <p:pic>
        <p:nvPicPr>
          <p:cNvPr id="20484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95288" y="1600200"/>
            <a:ext cx="8353425" cy="481647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ES" smtClean="0"/>
              <a:t>7. INSTALACIÓN DE UN SO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96950" y="1125538"/>
            <a:ext cx="8147050" cy="5399087"/>
          </a:xfrm>
        </p:spPr>
        <p:txBody>
          <a:bodyPr/>
          <a:lstStyle/>
          <a:p>
            <a:pPr lvl="1" eaLnBrk="1" hangingPunct="1"/>
            <a:endParaRPr lang="es-ES" smtClean="0"/>
          </a:p>
          <a:p>
            <a:pPr eaLnBrk="1" hangingPunct="1"/>
            <a:endParaRPr lang="es-ES" smtClean="0"/>
          </a:p>
        </p:txBody>
      </p:sp>
      <p:sp>
        <p:nvSpPr>
          <p:cNvPr id="21508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s-ES" smtClean="0"/>
          </a:p>
        </p:txBody>
      </p:sp>
      <p:pic>
        <p:nvPicPr>
          <p:cNvPr id="21509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775" y="1484313"/>
            <a:ext cx="8461375" cy="449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74638"/>
            <a:ext cx="8748712" cy="1143000"/>
          </a:xfrm>
        </p:spPr>
        <p:txBody>
          <a:bodyPr/>
          <a:lstStyle/>
          <a:p>
            <a:pPr eaLnBrk="1" hangingPunct="1"/>
            <a:r>
              <a:rPr lang="es-ES" sz="3800" smtClean="0"/>
              <a:t>8. ACTUALIZACIÓN DEL SERVIDOR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0063" y="1071563"/>
            <a:ext cx="8258175" cy="4530725"/>
          </a:xfrm>
        </p:spPr>
        <p:txBody>
          <a:bodyPr/>
          <a:lstStyle/>
          <a:p>
            <a:pPr algn="just" eaLnBrk="1" hangingPunct="1"/>
            <a:r>
              <a:rPr lang="es-ES" sz="2600" dirty="0" smtClean="0"/>
              <a:t>Tras la instalación del sistema operativo Windows </a:t>
            </a:r>
            <a:r>
              <a:rPr lang="es-ES" sz="2600" dirty="0" smtClean="0"/>
              <a:t>2016 </a:t>
            </a:r>
            <a:r>
              <a:rPr lang="es-ES" sz="2600" dirty="0" smtClean="0"/>
              <a:t>server habrá que actualizarlo con las últimas actualizaciones disponibles.</a:t>
            </a:r>
          </a:p>
          <a:p>
            <a:pPr algn="just" eaLnBrk="1" hangingPunct="1"/>
            <a:r>
              <a:rPr lang="es-ES" sz="2600" dirty="0" smtClean="0"/>
              <a:t>Para ello accederemos a Windows </a:t>
            </a:r>
            <a:r>
              <a:rPr lang="es-ES" sz="2600" dirty="0" err="1" smtClean="0"/>
              <a:t>Update</a:t>
            </a:r>
            <a:r>
              <a:rPr lang="es-ES" sz="2600" dirty="0" smtClean="0"/>
              <a:t>.</a:t>
            </a:r>
          </a:p>
        </p:txBody>
      </p:sp>
      <p:pic>
        <p:nvPicPr>
          <p:cNvPr id="7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928934"/>
            <a:ext cx="7572428" cy="3138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orde">
  <a:themeElements>
    <a:clrScheme name="Bord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rd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5946</TotalTime>
  <Words>1075</Words>
  <Application>Microsoft Office PowerPoint</Application>
  <PresentationFormat>Presentación en pantalla (4:3)</PresentationFormat>
  <Paragraphs>137</Paragraphs>
  <Slides>20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1" baseType="lpstr">
      <vt:lpstr>Borde</vt:lpstr>
      <vt:lpstr>TEMA1:</vt:lpstr>
      <vt:lpstr>1. INTRODUCCIÓN</vt:lpstr>
      <vt:lpstr>1. INTRODUCCIÓN</vt:lpstr>
      <vt:lpstr>1. INTRODUCCIÓN</vt:lpstr>
      <vt:lpstr>1.1 FUNCIONES DE UN SO EN RED</vt:lpstr>
      <vt:lpstr>1.2 CARACTERÍSTICAS QUE PERMITE UN SO EN RED</vt:lpstr>
      <vt:lpstr>2. SELECCIÓN DE UN SO EN RED</vt:lpstr>
      <vt:lpstr>2.1.A. SO EN RED WINDOWS</vt:lpstr>
      <vt:lpstr>2.1.B. SO EN RED UNIX/LINUX</vt:lpstr>
      <vt:lpstr>2.2 INTEGRACIÓN DE SO EN REDES MIXTAS</vt:lpstr>
      <vt:lpstr>3.2. REQUISITOS HARDWARE PARA WINDOWS 2016 SERVER STANDARD</vt:lpstr>
      <vt:lpstr>3.3. SISTEMA DE ARCHIVOS EN WINDOWS</vt:lpstr>
      <vt:lpstr>6. COMPONENTES A INSTALAR</vt:lpstr>
      <vt:lpstr>6. COMPONENTES A INSTALAR</vt:lpstr>
      <vt:lpstr>7. INSTALACIÓN DE UN SO</vt:lpstr>
      <vt:lpstr>7. INSTALACIÓN DE UN SO</vt:lpstr>
      <vt:lpstr>7. INSTALACIÓN DE UN SO</vt:lpstr>
      <vt:lpstr>7. INSTALACIÓN DE UN SO</vt:lpstr>
      <vt:lpstr>7. INSTALACIÓN DE UN SO</vt:lpstr>
      <vt:lpstr>8. ACTUALIZACIÓN DEL SERVIDOR</vt:lpstr>
    </vt:vector>
  </TitlesOfParts>
  <Company>Dark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TEMA1:</dc:title>
  <dc:creator>micasa</dc:creator>
  <cp:lastModifiedBy>Piedad</cp:lastModifiedBy>
  <cp:revision>25</cp:revision>
  <dcterms:created xsi:type="dcterms:W3CDTF">2011-09-09T13:22:16Z</dcterms:created>
  <dcterms:modified xsi:type="dcterms:W3CDTF">2022-09-14T21:38:19Z</dcterms:modified>
</cp:coreProperties>
</file>