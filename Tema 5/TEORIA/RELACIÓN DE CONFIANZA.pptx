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 id="2147483852" r:id="rId2"/>
  </p:sldMasterIdLst>
  <p:notesMasterIdLst>
    <p:notesMasterId r:id="rId24"/>
  </p:notesMasterIdLst>
  <p:sldIdLst>
    <p:sldId id="256" r:id="rId3"/>
    <p:sldId id="257" r:id="rId4"/>
    <p:sldId id="258" r:id="rId5"/>
    <p:sldId id="259" r:id="rId6"/>
    <p:sldId id="263" r:id="rId7"/>
    <p:sldId id="260" r:id="rId8"/>
    <p:sldId id="262" r:id="rId9"/>
    <p:sldId id="261"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5DDBA7-DBE8-4C15-91A9-431C4AA8EA5E}" type="datetimeFigureOut">
              <a:rPr lang="es-ES" smtClean="0"/>
              <a:t>29/09/2017</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8CE077-624C-45D9-93FD-327053B9C60B}" type="slidenum">
              <a:rPr lang="es-ES" smtClean="0"/>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1987" name="2 Marcador de notas"/>
          <p:cNvSpPr>
            <a:spLocks noGrp="1"/>
          </p:cNvSpPr>
          <p:nvPr>
            <p:ph type="body" idx="1"/>
          </p:nvPr>
        </p:nvSpPr>
        <p:spPr bwMode="auto">
          <a:noFill/>
        </p:spPr>
        <p:txBody>
          <a:bodyPr/>
          <a:lstStyle/>
          <a:p>
            <a:pPr>
              <a:spcBef>
                <a:spcPct val="0"/>
              </a:spcBef>
            </a:pPr>
            <a:endParaRPr lang="es-ES" dirty="0" smtClean="0"/>
          </a:p>
        </p:txBody>
      </p:sp>
      <p:sp>
        <p:nvSpPr>
          <p:cNvPr id="3789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383DF59-37FE-45CC-AC6E-A45D389A4D83}" type="slidenum">
              <a:rPr lang="es-ES" smtClean="0"/>
              <a:pPr fontAlgn="base">
                <a:spcBef>
                  <a:spcPct val="0"/>
                </a:spcBef>
                <a:spcAft>
                  <a:spcPct val="0"/>
                </a:spcAft>
                <a:defRPr/>
              </a:pPr>
              <a:t>4</a:t>
            </a:fld>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1987" name="2 Marcador de notas"/>
          <p:cNvSpPr>
            <a:spLocks noGrp="1"/>
          </p:cNvSpPr>
          <p:nvPr>
            <p:ph type="body" idx="1"/>
          </p:nvPr>
        </p:nvSpPr>
        <p:spPr bwMode="auto">
          <a:noFill/>
        </p:spPr>
        <p:txBody>
          <a:bodyPr/>
          <a:lstStyle/>
          <a:p>
            <a:pPr>
              <a:spcBef>
                <a:spcPct val="0"/>
              </a:spcBef>
            </a:pPr>
            <a:endParaRPr lang="es-ES" dirty="0" smtClean="0"/>
          </a:p>
        </p:txBody>
      </p:sp>
      <p:sp>
        <p:nvSpPr>
          <p:cNvPr id="3789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383DF59-37FE-45CC-AC6E-A45D389A4D83}" type="slidenum">
              <a:rPr lang="es-ES" smtClean="0"/>
              <a:pPr fontAlgn="base">
                <a:spcBef>
                  <a:spcPct val="0"/>
                </a:spcBef>
                <a:spcAft>
                  <a:spcPct val="0"/>
                </a:spcAft>
                <a:defRPr/>
              </a:pPr>
              <a:t>5</a:t>
            </a:fld>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3011" name="2 Marcador de notas"/>
          <p:cNvSpPr>
            <a:spLocks noGrp="1"/>
          </p:cNvSpPr>
          <p:nvPr>
            <p:ph type="body" idx="1"/>
          </p:nvPr>
        </p:nvSpPr>
        <p:spPr bwMode="auto">
          <a:noFill/>
        </p:spPr>
        <p:txBody>
          <a:bodyPr/>
          <a:lstStyle/>
          <a:p>
            <a:pPr>
              <a:spcBef>
                <a:spcPct val="0"/>
              </a:spcBef>
            </a:pPr>
            <a:r>
              <a:rPr lang="es-ES" smtClean="0"/>
              <a:t>Práctica 11 y Práctica 12</a:t>
            </a:r>
          </a:p>
        </p:txBody>
      </p:sp>
      <p:sp>
        <p:nvSpPr>
          <p:cNvPr id="3891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170209F-A210-458D-8839-437B9F862355}" type="slidenum">
              <a:rPr lang="es-ES" smtClean="0"/>
              <a:pPr fontAlgn="base">
                <a:spcBef>
                  <a:spcPct val="0"/>
                </a:spcBef>
                <a:spcAft>
                  <a:spcPct val="0"/>
                </a:spcAft>
                <a:defRPr/>
              </a:pPr>
              <a:t>6</a:t>
            </a:fld>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3011" name="2 Marcador de notas"/>
          <p:cNvSpPr>
            <a:spLocks noGrp="1"/>
          </p:cNvSpPr>
          <p:nvPr>
            <p:ph type="body" idx="1"/>
          </p:nvPr>
        </p:nvSpPr>
        <p:spPr bwMode="auto">
          <a:noFill/>
        </p:spPr>
        <p:txBody>
          <a:bodyPr/>
          <a:lstStyle/>
          <a:p>
            <a:pPr>
              <a:spcBef>
                <a:spcPct val="0"/>
              </a:spcBef>
            </a:pPr>
            <a:r>
              <a:rPr lang="es-ES" smtClean="0"/>
              <a:t>Práctica 11 y Práctica 12</a:t>
            </a:r>
          </a:p>
        </p:txBody>
      </p:sp>
      <p:sp>
        <p:nvSpPr>
          <p:cNvPr id="3891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170209F-A210-458D-8839-437B9F862355}" type="slidenum">
              <a:rPr lang="es-ES" smtClean="0"/>
              <a:pPr fontAlgn="base">
                <a:spcBef>
                  <a:spcPct val="0"/>
                </a:spcBef>
                <a:spcAft>
                  <a:spcPct val="0"/>
                </a:spcAft>
                <a:defRPr/>
              </a:pPr>
              <a:t>7</a:t>
            </a:fld>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Vídeo de las relaciones de confianza en 2012 server. https://www.youtube.com/watch?v=9K8BAXkm0VA</a:t>
            </a:r>
          </a:p>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8</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9</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10</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11</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12</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13</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14</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15</a:t>
            </a:fld>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16</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17</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18</a:t>
            </a:fld>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19</a:t>
            </a:fld>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20</a:t>
            </a:fld>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7E8CE077-624C-45D9-93FD-327053B9C60B}" type="slidenum">
              <a:rPr lang="es-ES" smtClean="0"/>
              <a:t>21</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D386A5F4-D3F0-496E-B54F-6D68A76764C9}" type="datetimeFigureOut">
              <a:rPr lang="es-ES" smtClean="0"/>
              <a:t>29/09/2017</a:t>
            </a:fld>
            <a:endParaRPr lang="es-ES"/>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ES"/>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9C0D9DE6-2096-41FA-BFBC-D1B24CC8F37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7" name="6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8" name="7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8" name="7 Marcador de pie de página"/>
          <p:cNvSpPr>
            <a:spLocks noGrp="1"/>
          </p:cNvSpPr>
          <p:nvPr>
            <p:ph type="ftr" sz="quarter" idx="11"/>
          </p:nvPr>
        </p:nvSpPr>
        <p:spPr/>
        <p:txBody>
          <a:bodyPr/>
          <a:lstStyle>
            <a:extLst/>
          </a:lstStyle>
          <a:p>
            <a:endParaRPr lang="es-ES"/>
          </a:p>
        </p:txBody>
      </p:sp>
      <p:sp>
        <p:nvSpPr>
          <p:cNvPr id="9" name="8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4" name="3 Marcador de pie de página"/>
          <p:cNvSpPr>
            <a:spLocks noGrp="1"/>
          </p:cNvSpPr>
          <p:nvPr>
            <p:ph type="ftr" sz="quarter" idx="11"/>
          </p:nvPr>
        </p:nvSpPr>
        <p:spPr/>
        <p:txBody>
          <a:bodyPr/>
          <a:lstStyle>
            <a:extLst/>
          </a:lstStyle>
          <a:p>
            <a:endParaRPr lang="es-ES"/>
          </a:p>
        </p:txBody>
      </p:sp>
      <p:sp>
        <p:nvSpPr>
          <p:cNvPr id="5" name="4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6" name="5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3" name="2 Marcador de pie de página"/>
          <p:cNvSpPr>
            <a:spLocks noGrp="1"/>
          </p:cNvSpPr>
          <p:nvPr>
            <p:ph type="ftr" sz="quarter" idx="11"/>
          </p:nvPr>
        </p:nvSpPr>
        <p:spPr/>
        <p:txBody>
          <a:bodyPr/>
          <a:lstStyle>
            <a:extLst/>
          </a:lstStyle>
          <a:p>
            <a:endParaRPr lang="es-ES"/>
          </a:p>
        </p:txBody>
      </p:sp>
      <p:sp>
        <p:nvSpPr>
          <p:cNvPr id="4" name="3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smtClean="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ES"/>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9C0D9DE6-2096-41FA-BFBC-D1B24CC8F37C}" type="slidenum">
              <a:rPr lang="es-ES" smtClean="0"/>
              <a:t>‹Nº›</a:t>
            </a:fld>
            <a:endParaRPr lang="es-ES"/>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smtClean="0"/>
              <a:t>Haga clic para modificar el estilo de título del patrón</a:t>
            </a:r>
            <a:endParaRPr kumimoji="0" lang="en-US"/>
          </a:p>
        </p:txBody>
      </p:sp>
      <p:sp>
        <p:nvSpPr>
          <p:cNvPr id="8" name="7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8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9 Triángulo rectángulo"/>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D386A5F4-D3F0-496E-B54F-6D68A76764C9}" type="datetimeFigureOut">
              <a:rPr lang="es-ES" smtClean="0"/>
              <a:t>29/09/2017</a:t>
            </a:fld>
            <a:endParaRPr lang="es-ES"/>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ES"/>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9C0D9DE6-2096-41FA-BFBC-D1B24CC8F37C}" type="slidenum">
              <a:rPr lang="es-ES" smtClean="0"/>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7" name="6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8" name="7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8" name="7 Marcador de pie de página"/>
          <p:cNvSpPr>
            <a:spLocks noGrp="1"/>
          </p:cNvSpPr>
          <p:nvPr>
            <p:ph type="ftr" sz="quarter" idx="11"/>
          </p:nvPr>
        </p:nvSpPr>
        <p:spPr/>
        <p:txBody>
          <a:bodyPr/>
          <a:lstStyle>
            <a:extLst/>
          </a:lstStyle>
          <a:p>
            <a:endParaRPr lang="es-ES"/>
          </a:p>
        </p:txBody>
      </p:sp>
      <p:sp>
        <p:nvSpPr>
          <p:cNvPr id="9" name="8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4" name="3 Marcador de pie de página"/>
          <p:cNvSpPr>
            <a:spLocks noGrp="1"/>
          </p:cNvSpPr>
          <p:nvPr>
            <p:ph type="ftr" sz="quarter" idx="11"/>
          </p:nvPr>
        </p:nvSpPr>
        <p:spPr/>
        <p:txBody>
          <a:bodyPr/>
          <a:lstStyle>
            <a:extLst/>
          </a:lstStyle>
          <a:p>
            <a:endParaRPr lang="es-ES"/>
          </a:p>
        </p:txBody>
      </p:sp>
      <p:sp>
        <p:nvSpPr>
          <p:cNvPr id="5" name="4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
        <p:nvSpPr>
          <p:cNvPr id="6" name="5 Título"/>
          <p:cNvSpPr>
            <a:spLocks noGrp="1"/>
          </p:cNvSpPr>
          <p:nvPr>
            <p:ph type="title"/>
          </p:nvPr>
        </p:nvSpPr>
        <p:spPr/>
        <p:txBody>
          <a:bodyPr rtlCol="0"/>
          <a:lstStyle>
            <a:extLst/>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3" name="2 Marcador de pie de página"/>
          <p:cNvSpPr>
            <a:spLocks noGrp="1"/>
          </p:cNvSpPr>
          <p:nvPr>
            <p:ph type="ftr" sz="quarter" idx="11"/>
          </p:nvPr>
        </p:nvSpPr>
        <p:spPr/>
        <p:txBody>
          <a:bodyPr/>
          <a:lstStyle>
            <a:extLst/>
          </a:lstStyle>
          <a:p>
            <a:endParaRPr lang="es-ES"/>
          </a:p>
        </p:txBody>
      </p:sp>
      <p:sp>
        <p:nvSpPr>
          <p:cNvPr id="4" name="3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smtClean="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D386A5F4-D3F0-496E-B54F-6D68A76764C9}" type="datetimeFigureOut">
              <a:rPr lang="es-ES" smtClean="0"/>
              <a:t>29/09/2017</a:t>
            </a:fld>
            <a:endParaRPr lang="es-ES"/>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ES"/>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9C0D9DE6-2096-41FA-BFBC-D1B24CC8F37C}" type="slidenum">
              <a:rPr lang="es-ES" smtClean="0"/>
              <a:t>‹Nº›</a:t>
            </a:fld>
            <a:endParaRPr lang="es-ES"/>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smtClean="0"/>
              <a:t>Haga clic para modificar el estilo de título del patrón</a:t>
            </a:r>
            <a:endParaRPr kumimoji="0" lang="en-US"/>
          </a:p>
        </p:txBody>
      </p:sp>
      <p:sp>
        <p:nvSpPr>
          <p:cNvPr id="8" name="7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8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9 Triángulo rectángulo"/>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386A5F4-D3F0-496E-B54F-6D68A76764C9}" type="datetimeFigureOut">
              <a:rPr lang="es-ES" smtClean="0"/>
              <a:t>29/09/2017</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9C0D9DE6-2096-41FA-BFBC-D1B24CC8F37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11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13 Triángulo rectángulo"/>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386A5F4-D3F0-496E-B54F-6D68A76764C9}" type="datetimeFigureOut">
              <a:rPr lang="es-ES" smtClean="0"/>
              <a:t>29/09/2017</a:t>
            </a:fld>
            <a:endParaRPr lang="es-ES"/>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ES"/>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C0D9DE6-2096-41FA-BFBC-D1B24CC8F37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11 Forma libre"/>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13 Triángulo rectángulo"/>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386A5F4-D3F0-496E-B54F-6D68A76764C9}" type="datetimeFigureOut">
              <a:rPr lang="es-ES" smtClean="0"/>
              <a:t>29/09/2017</a:t>
            </a:fld>
            <a:endParaRPr lang="es-ES"/>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ES"/>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C0D9DE6-2096-41FA-BFBC-D1B24CC8F37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dirty="0" smtClean="0"/>
              <a:t>RELACIÓN DE CONFIANZA</a:t>
            </a:r>
            <a:endParaRPr lang="es-ES" dirty="0"/>
          </a:p>
        </p:txBody>
      </p:sp>
      <p:sp>
        <p:nvSpPr>
          <p:cNvPr id="3" name="2 Subtítulo"/>
          <p:cNvSpPr>
            <a:spLocks noGrp="1"/>
          </p:cNvSpPr>
          <p:nvPr>
            <p:ph type="subTitle" idx="1"/>
          </p:nvPr>
        </p:nvSpPr>
        <p:spPr/>
        <p:txBody>
          <a:bodyPr/>
          <a:lstStyle/>
          <a:p>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p:cNvSpPr>
            <a:spLocks noGrp="1"/>
          </p:cNvSpPr>
          <p:nvPr>
            <p:ph type="title" idx="4294967295"/>
          </p:nvPr>
        </p:nvSpPr>
        <p:spPr>
          <a:xfrm>
            <a:off x="714348" y="214290"/>
            <a:ext cx="8229600" cy="1143000"/>
          </a:xfrm>
        </p:spPr>
        <p:txBody>
          <a:bodyPr>
            <a:normAutofit/>
          </a:bodyPr>
          <a:lstStyle/>
          <a:p>
            <a:r>
              <a:rPr lang="es-ES" dirty="0" smtClean="0"/>
              <a:t>RELACIONES </a:t>
            </a:r>
            <a:r>
              <a:rPr lang="es-ES" dirty="0"/>
              <a:t>DE CONFIANZA</a:t>
            </a:r>
          </a:p>
        </p:txBody>
      </p:sp>
      <p:sp>
        <p:nvSpPr>
          <p:cNvPr id="24579" name="2 Marcador de contenido"/>
          <p:cNvSpPr>
            <a:spLocks noGrp="1"/>
          </p:cNvSpPr>
          <p:nvPr>
            <p:ph idx="4294967295"/>
          </p:nvPr>
        </p:nvSpPr>
        <p:spPr>
          <a:xfrm>
            <a:off x="500034" y="1500174"/>
            <a:ext cx="8229600" cy="4525963"/>
          </a:xfrm>
        </p:spPr>
        <p:txBody>
          <a:bodyPr>
            <a:normAutofit lnSpcReduction="10000"/>
          </a:bodyPr>
          <a:lstStyle/>
          <a:p>
            <a:r>
              <a:rPr lang="es-ES" sz="3200" dirty="0"/>
              <a:t>Es una relación establecida entre dos dominios.</a:t>
            </a:r>
          </a:p>
          <a:p>
            <a:r>
              <a:rPr lang="es-ES" sz="3200" dirty="0"/>
              <a:t>Permite a los usuarios acceder a los recursos de otro dominio, y a los administradores definir los permisos y derechos de usuario para los usuarios del otro dominio.</a:t>
            </a:r>
          </a:p>
          <a:p>
            <a:r>
              <a:rPr lang="es-ES" sz="3200" dirty="0"/>
              <a:t>Hay varios tipos de relaciones de confianza.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571500" y="500063"/>
            <a:ext cx="8572500" cy="1143000"/>
          </a:xfrm>
        </p:spPr>
        <p:txBody>
          <a:bodyPr>
            <a:noAutofit/>
          </a:bodyPr>
          <a:lstStyle/>
          <a:p>
            <a:r>
              <a:rPr lang="es-ES" dirty="0" smtClean="0"/>
              <a:t>RELACIONES </a:t>
            </a:r>
            <a:r>
              <a:rPr lang="es-ES" dirty="0"/>
              <a:t>DE CONFIANZA. CARACTERÍSTICAS</a:t>
            </a:r>
          </a:p>
        </p:txBody>
      </p:sp>
      <p:sp>
        <p:nvSpPr>
          <p:cNvPr id="25603" name="2 Marcador de contenido"/>
          <p:cNvSpPr>
            <a:spLocks noGrp="1"/>
          </p:cNvSpPr>
          <p:nvPr>
            <p:ph idx="4294967295"/>
          </p:nvPr>
        </p:nvSpPr>
        <p:spPr>
          <a:xfrm>
            <a:off x="0" y="1928813"/>
            <a:ext cx="8929718" cy="4525962"/>
          </a:xfrm>
        </p:spPr>
        <p:txBody>
          <a:bodyPr>
            <a:noAutofit/>
          </a:bodyPr>
          <a:lstStyle/>
          <a:p>
            <a:r>
              <a:rPr lang="es-ES" sz="3200" u="sng" dirty="0"/>
              <a:t>Método de creación</a:t>
            </a:r>
            <a:r>
              <a:rPr lang="es-ES" sz="3200" dirty="0"/>
              <a:t>: Manual o automática</a:t>
            </a:r>
          </a:p>
          <a:p>
            <a:r>
              <a:rPr lang="es-ES" sz="3200" u="sng" dirty="0"/>
              <a:t>Dirección</a:t>
            </a:r>
            <a:r>
              <a:rPr lang="es-ES" sz="3200" dirty="0"/>
              <a:t>: Unidireccionales o bidireccionales.</a:t>
            </a:r>
          </a:p>
          <a:p>
            <a:r>
              <a:rPr lang="es-ES" sz="3200" u="sng" dirty="0"/>
              <a:t>Transitividad</a:t>
            </a:r>
            <a:r>
              <a:rPr lang="es-ES" sz="3200" dirty="0"/>
              <a:t>: Transitivas o no. Si A confía en B y B confía en C. Entonces A confía en C. En Windows Server, los dominios de un mismo bosque comparten relaciones de confianza transitivas unos con otros.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0" y="214290"/>
            <a:ext cx="9144000" cy="1143000"/>
          </a:xfrm>
        </p:spPr>
        <p:txBody>
          <a:bodyPr>
            <a:noAutofit/>
          </a:bodyPr>
          <a:lstStyle/>
          <a:p>
            <a:r>
              <a:rPr lang="es-ES" dirty="0" smtClean="0"/>
              <a:t>RELACIONES </a:t>
            </a:r>
            <a:r>
              <a:rPr lang="es-ES" dirty="0"/>
              <a:t>DE CONFIANZA. TIPOS</a:t>
            </a:r>
          </a:p>
        </p:txBody>
      </p:sp>
      <p:sp>
        <p:nvSpPr>
          <p:cNvPr id="3" name="2 Marcador de contenido"/>
          <p:cNvSpPr>
            <a:spLocks noGrp="1"/>
          </p:cNvSpPr>
          <p:nvPr>
            <p:ph idx="4294967295"/>
          </p:nvPr>
        </p:nvSpPr>
        <p:spPr>
          <a:xfrm>
            <a:off x="214282" y="2000240"/>
            <a:ext cx="5000660" cy="4614861"/>
          </a:xfrm>
        </p:spPr>
        <p:txBody>
          <a:bodyPr>
            <a:noAutofit/>
          </a:bodyPr>
          <a:lstStyle/>
          <a:p>
            <a:pPr>
              <a:lnSpc>
                <a:spcPct val="90000"/>
              </a:lnSpc>
            </a:pPr>
            <a:r>
              <a:rPr lang="es-ES" sz="3200" dirty="0" smtClean="0"/>
              <a:t>Sin confianza</a:t>
            </a:r>
          </a:p>
          <a:p>
            <a:pPr>
              <a:lnSpc>
                <a:spcPct val="90000"/>
              </a:lnSpc>
            </a:pPr>
            <a:endParaRPr lang="es-ES" sz="3200" dirty="0" smtClean="0"/>
          </a:p>
          <a:p>
            <a:pPr>
              <a:lnSpc>
                <a:spcPct val="90000"/>
              </a:lnSpc>
            </a:pPr>
            <a:r>
              <a:rPr lang="es-ES" sz="3200" dirty="0" smtClean="0"/>
              <a:t>Confianza unidireccionales</a:t>
            </a:r>
          </a:p>
          <a:p>
            <a:pPr>
              <a:lnSpc>
                <a:spcPct val="90000"/>
              </a:lnSpc>
            </a:pPr>
            <a:endParaRPr lang="es-ES" sz="3200" dirty="0"/>
          </a:p>
          <a:p>
            <a:pPr>
              <a:lnSpc>
                <a:spcPct val="90000"/>
              </a:lnSpc>
            </a:pPr>
            <a:r>
              <a:rPr lang="es-ES" sz="3200" dirty="0" smtClean="0"/>
              <a:t>Confianza bidireccionales</a:t>
            </a:r>
            <a:endParaRPr lang="es-ES" sz="3200" dirty="0"/>
          </a:p>
        </p:txBody>
      </p:sp>
      <p:pic>
        <p:nvPicPr>
          <p:cNvPr id="5" name="Picture 2"/>
          <p:cNvPicPr>
            <a:picLocks noChangeAspect="1" noChangeArrowheads="1"/>
          </p:cNvPicPr>
          <p:nvPr/>
        </p:nvPicPr>
        <p:blipFill>
          <a:blip r:embed="rId3"/>
          <a:srcRect/>
          <a:stretch>
            <a:fillRect/>
          </a:stretch>
        </p:blipFill>
        <p:spPr bwMode="auto">
          <a:xfrm>
            <a:off x="4857752" y="1928802"/>
            <a:ext cx="4090982" cy="4000528"/>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0" y="214290"/>
            <a:ext cx="9144000" cy="1143000"/>
          </a:xfrm>
        </p:spPr>
        <p:txBody>
          <a:bodyPr>
            <a:noAutofit/>
          </a:bodyPr>
          <a:lstStyle/>
          <a:p>
            <a:r>
              <a:rPr lang="es-ES" dirty="0" smtClean="0"/>
              <a:t>RELACIONES </a:t>
            </a:r>
            <a:r>
              <a:rPr lang="es-ES" dirty="0"/>
              <a:t>DE CONFIANZA. TIPOS</a:t>
            </a:r>
          </a:p>
        </p:txBody>
      </p:sp>
      <p:sp>
        <p:nvSpPr>
          <p:cNvPr id="3" name="2 Marcador de contenido"/>
          <p:cNvSpPr>
            <a:spLocks noGrp="1"/>
          </p:cNvSpPr>
          <p:nvPr>
            <p:ph idx="4294967295"/>
          </p:nvPr>
        </p:nvSpPr>
        <p:spPr>
          <a:xfrm>
            <a:off x="142844" y="1142984"/>
            <a:ext cx="8858312" cy="4829175"/>
          </a:xfrm>
        </p:spPr>
        <p:txBody>
          <a:bodyPr>
            <a:noAutofit/>
          </a:bodyPr>
          <a:lstStyle/>
          <a:p>
            <a:pPr>
              <a:lnSpc>
                <a:spcPct val="90000"/>
              </a:lnSpc>
            </a:pPr>
            <a:r>
              <a:rPr lang="es-ES" sz="3200" u="sng" dirty="0"/>
              <a:t>Relaciones entre dominios sin confianza</a:t>
            </a:r>
            <a:r>
              <a:rPr lang="es-ES" sz="3200" dirty="0"/>
              <a:t>: El usuario necesitaría una cuenta separada para cada dominio.</a:t>
            </a:r>
          </a:p>
          <a:p>
            <a:pPr>
              <a:lnSpc>
                <a:spcPct val="90000"/>
              </a:lnSpc>
            </a:pPr>
            <a:r>
              <a:rPr lang="es-ES" sz="3200" u="sng" dirty="0"/>
              <a:t>Relaciones de confianza unidireccionales</a:t>
            </a:r>
            <a:r>
              <a:rPr lang="es-ES" sz="3200" dirty="0"/>
              <a:t>: Los usuarios del dominio A pueden acceder a los recursos del dominio B (que confía), pero no al revés.</a:t>
            </a:r>
          </a:p>
          <a:p>
            <a:pPr>
              <a:lnSpc>
                <a:spcPct val="90000"/>
              </a:lnSpc>
            </a:pPr>
            <a:r>
              <a:rPr lang="es-ES" sz="3200" u="sng" dirty="0"/>
              <a:t>Relaciones de confianza bidireccionales</a:t>
            </a:r>
            <a:r>
              <a:rPr lang="es-ES" sz="3200" dirty="0"/>
              <a:t>: Los usuarios de los dos dominios tienen acceso a los recursos de ambos dominios.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357158" y="285728"/>
            <a:ext cx="9144001" cy="1143000"/>
          </a:xfrm>
        </p:spPr>
        <p:txBody>
          <a:bodyPr>
            <a:noAutofit/>
          </a:bodyPr>
          <a:lstStyle/>
          <a:p>
            <a:r>
              <a:rPr lang="es-ES" dirty="0" smtClean="0"/>
              <a:t>RELACIONES DE CONFIANZA.  ADMINISTRACIÓN</a:t>
            </a:r>
            <a:endParaRPr lang="es-ES" dirty="0"/>
          </a:p>
        </p:txBody>
      </p:sp>
      <p:sp>
        <p:nvSpPr>
          <p:cNvPr id="3" name="2 Marcador de contenido"/>
          <p:cNvSpPr>
            <a:spLocks noGrp="1"/>
          </p:cNvSpPr>
          <p:nvPr>
            <p:ph idx="4294967295"/>
          </p:nvPr>
        </p:nvSpPr>
        <p:spPr>
          <a:xfrm>
            <a:off x="0" y="1600200"/>
            <a:ext cx="8858280" cy="4924425"/>
          </a:xfrm>
        </p:spPr>
        <p:txBody>
          <a:bodyPr>
            <a:noAutofit/>
          </a:bodyPr>
          <a:lstStyle/>
          <a:p>
            <a:pPr>
              <a:lnSpc>
                <a:spcPct val="90000"/>
              </a:lnSpc>
            </a:pPr>
            <a:r>
              <a:rPr lang="es-ES" sz="3200" dirty="0"/>
              <a:t>Una vez establecidas las relaciones de confianza, podremos realizar operaciones de administración en nuestro dominio y en el otro con el que tenemos establecida la relación de confianza, sin movernos del equipo.</a:t>
            </a:r>
          </a:p>
          <a:p>
            <a:pPr>
              <a:lnSpc>
                <a:spcPct val="90000"/>
              </a:lnSpc>
            </a:pPr>
            <a:r>
              <a:rPr lang="es-ES" sz="3200" dirty="0"/>
              <a:t>Para ello, habrá que indicar qué usuarios del dominio en el que estamos pueden administrar el dominio con el que hemos establecido relaciones de confianza.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357158" y="285728"/>
            <a:ext cx="9144001" cy="1143000"/>
          </a:xfrm>
        </p:spPr>
        <p:txBody>
          <a:bodyPr>
            <a:noAutofit/>
          </a:bodyPr>
          <a:lstStyle/>
          <a:p>
            <a:r>
              <a:rPr lang="es-ES" dirty="0" smtClean="0"/>
              <a:t>RELACIONES DE CONFIANZA.  ADMINISTRACIÓN</a:t>
            </a:r>
            <a:endParaRPr lang="es-ES" dirty="0"/>
          </a:p>
        </p:txBody>
      </p:sp>
      <p:pic>
        <p:nvPicPr>
          <p:cNvPr id="1026" name="Picture 2"/>
          <p:cNvPicPr>
            <a:picLocks noChangeAspect="1" noChangeArrowheads="1"/>
          </p:cNvPicPr>
          <p:nvPr/>
        </p:nvPicPr>
        <p:blipFill>
          <a:blip r:embed="rId3"/>
          <a:srcRect/>
          <a:stretch>
            <a:fillRect/>
          </a:stretch>
        </p:blipFill>
        <p:spPr bwMode="auto">
          <a:xfrm>
            <a:off x="357158" y="2357430"/>
            <a:ext cx="4207498" cy="3286148"/>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4875150" y="2357430"/>
            <a:ext cx="4086465" cy="3286148"/>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DELEGACIÓN </a:t>
            </a:r>
            <a:r>
              <a:rPr lang="es-ES_tradnl" dirty="0"/>
              <a:t>DE CONTROL DE DOMINIOS</a:t>
            </a:r>
            <a:endParaRPr lang="es-ES" dirty="0"/>
          </a:p>
        </p:txBody>
      </p:sp>
      <p:sp>
        <p:nvSpPr>
          <p:cNvPr id="28675" name="2 Marcador de contenido"/>
          <p:cNvSpPr>
            <a:spLocks noGrp="1"/>
          </p:cNvSpPr>
          <p:nvPr>
            <p:ph idx="4294967295"/>
          </p:nvPr>
        </p:nvSpPr>
        <p:spPr>
          <a:xfrm>
            <a:off x="357158" y="1600200"/>
            <a:ext cx="8358246" cy="4525963"/>
          </a:xfrm>
        </p:spPr>
        <p:txBody>
          <a:bodyPr>
            <a:normAutofit/>
          </a:bodyPr>
          <a:lstStyle/>
          <a:p>
            <a:r>
              <a:rPr lang="es-ES_tradnl" sz="3200" dirty="0"/>
              <a:t>Para poder administrar otro dominio con el que hemos establecido una relación de confianza, hay que indicar qué usuarios del dominio en el que estamos pueden administrar el dominio con el que hemos establecido las relaciones de confianza.</a:t>
            </a:r>
            <a:endParaRPr lang="es-E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357158" y="1600200"/>
            <a:ext cx="8429684" cy="4525963"/>
          </a:xfrm>
        </p:spPr>
        <p:txBody>
          <a:bodyPr>
            <a:normAutofit/>
          </a:bodyPr>
          <a:lstStyle/>
          <a:p>
            <a:r>
              <a:rPr lang="es-ES_tradnl" sz="3200" dirty="0" smtClean="0"/>
              <a:t>Los dos controladores de dominio deben tener un nombre distinto y ser accesibles a través de la red.</a:t>
            </a:r>
            <a:endParaRPr lang="es-ES" sz="3200" dirty="0"/>
          </a:p>
        </p:txBody>
      </p:sp>
      <p:pic>
        <p:nvPicPr>
          <p:cNvPr id="3074" name="Picture 2"/>
          <p:cNvPicPr>
            <a:picLocks noChangeAspect="1" noChangeArrowheads="1"/>
          </p:cNvPicPr>
          <p:nvPr/>
        </p:nvPicPr>
        <p:blipFill>
          <a:blip r:embed="rId3"/>
          <a:srcRect/>
          <a:stretch>
            <a:fillRect/>
          </a:stretch>
        </p:blipFill>
        <p:spPr bwMode="auto">
          <a:xfrm>
            <a:off x="1142976" y="3214686"/>
            <a:ext cx="3479664" cy="2786082"/>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a:srcRect/>
          <a:stretch>
            <a:fillRect/>
          </a:stretch>
        </p:blipFill>
        <p:spPr bwMode="auto">
          <a:xfrm>
            <a:off x="5000628" y="3214686"/>
            <a:ext cx="3556218" cy="278608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357158" y="1600200"/>
            <a:ext cx="8786842" cy="4525963"/>
          </a:xfrm>
        </p:spPr>
        <p:txBody>
          <a:bodyPr>
            <a:normAutofit/>
          </a:bodyPr>
          <a:lstStyle/>
          <a:p>
            <a:r>
              <a:rPr lang="es-ES_tradnl" sz="3200" dirty="0" smtClean="0"/>
              <a:t>Hay que comprobar la conectividad entre los dos controladores.</a:t>
            </a:r>
            <a:endParaRPr lang="es-ES" sz="3200" dirty="0"/>
          </a:p>
        </p:txBody>
      </p:sp>
      <p:pic>
        <p:nvPicPr>
          <p:cNvPr id="4099" name="Picture 3"/>
          <p:cNvPicPr>
            <a:picLocks noChangeAspect="1" noChangeArrowheads="1"/>
          </p:cNvPicPr>
          <p:nvPr/>
        </p:nvPicPr>
        <p:blipFill>
          <a:blip r:embed="rId3"/>
          <a:srcRect/>
          <a:stretch>
            <a:fillRect/>
          </a:stretch>
        </p:blipFill>
        <p:spPr bwMode="auto">
          <a:xfrm>
            <a:off x="785786" y="2571744"/>
            <a:ext cx="7358114" cy="1857388"/>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785786" y="4572008"/>
            <a:ext cx="7358114" cy="201930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357158" y="1600200"/>
            <a:ext cx="8786842" cy="4525963"/>
          </a:xfrm>
        </p:spPr>
        <p:txBody>
          <a:bodyPr>
            <a:normAutofit/>
          </a:bodyPr>
          <a:lstStyle/>
          <a:p>
            <a:r>
              <a:rPr lang="es-ES_tradnl" sz="3200" dirty="0" smtClean="0"/>
              <a:t>Hay que crear un reenviador condicional en el DNS de cada controlador de dominio.</a:t>
            </a:r>
            <a:endParaRPr lang="es-ES" sz="3200" dirty="0"/>
          </a:p>
        </p:txBody>
      </p:sp>
      <p:pic>
        <p:nvPicPr>
          <p:cNvPr id="5122" name="Picture 2"/>
          <p:cNvPicPr>
            <a:picLocks noChangeAspect="1" noChangeArrowheads="1"/>
          </p:cNvPicPr>
          <p:nvPr/>
        </p:nvPicPr>
        <p:blipFill>
          <a:blip r:embed="rId3"/>
          <a:srcRect b="18088"/>
          <a:stretch>
            <a:fillRect/>
          </a:stretch>
        </p:blipFill>
        <p:spPr bwMode="auto">
          <a:xfrm>
            <a:off x="428596" y="3143248"/>
            <a:ext cx="4214842" cy="2786082"/>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4786314" y="3143248"/>
            <a:ext cx="4005272" cy="278608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357158" y="1600200"/>
            <a:ext cx="8501122" cy="4525963"/>
          </a:xfrm>
        </p:spPr>
        <p:txBody>
          <a:bodyPr>
            <a:normAutofit/>
          </a:bodyPr>
          <a:lstStyle/>
          <a:p>
            <a:r>
              <a:rPr lang="es-ES_tradnl" sz="3200" dirty="0" smtClean="0"/>
              <a:t>Acceder a la herramienta Dominios y Confianzas del Active </a:t>
            </a:r>
            <a:r>
              <a:rPr lang="es-ES_tradnl" sz="3200" dirty="0" err="1" smtClean="0"/>
              <a:t>Directory</a:t>
            </a:r>
            <a:r>
              <a:rPr lang="es-ES_tradnl" sz="3200" dirty="0" smtClean="0"/>
              <a:t>. Y acceder a Propiedades.</a:t>
            </a:r>
            <a:endParaRPr lang="es-ES" sz="3200" dirty="0"/>
          </a:p>
        </p:txBody>
      </p:sp>
      <p:pic>
        <p:nvPicPr>
          <p:cNvPr id="6146" name="Picture 2"/>
          <p:cNvPicPr>
            <a:picLocks noChangeAspect="1" noChangeArrowheads="1"/>
          </p:cNvPicPr>
          <p:nvPr/>
        </p:nvPicPr>
        <p:blipFill>
          <a:blip r:embed="rId3"/>
          <a:srcRect/>
          <a:stretch>
            <a:fillRect/>
          </a:stretch>
        </p:blipFill>
        <p:spPr bwMode="auto">
          <a:xfrm>
            <a:off x="1643042" y="3357562"/>
            <a:ext cx="5715000" cy="2524125"/>
          </a:xfrm>
          <a:prstGeom prst="rect">
            <a:avLst/>
          </a:prstGeom>
          <a:noFill/>
          <a:ln w="9525">
            <a:noFill/>
            <a:miter lim="800000"/>
            <a:headEnd/>
            <a:tailEnd/>
          </a:ln>
          <a:effectLst/>
        </p:spPr>
      </p:pic>
      <p:sp>
        <p:nvSpPr>
          <p:cNvPr id="7" name="6 Rectángulo"/>
          <p:cNvSpPr/>
          <p:nvPr/>
        </p:nvSpPr>
        <p:spPr>
          <a:xfrm>
            <a:off x="2714612" y="5357826"/>
            <a:ext cx="1357322" cy="2857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srcRect/>
          <a:stretch>
            <a:fillRect/>
          </a:stretch>
        </p:blipFill>
        <p:spPr bwMode="auto">
          <a:xfrm>
            <a:off x="4000496" y="2055862"/>
            <a:ext cx="4910127" cy="3910591"/>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2071678"/>
            <a:ext cx="3571900" cy="4525963"/>
          </a:xfrm>
        </p:spPr>
        <p:txBody>
          <a:bodyPr>
            <a:normAutofit/>
          </a:bodyPr>
          <a:lstStyle/>
          <a:p>
            <a:r>
              <a:rPr lang="es-ES_tradnl" sz="3200" dirty="0" smtClean="0"/>
              <a:t>En la pestaña Confianza, Crear una nueva confianza.</a:t>
            </a:r>
            <a:endParaRPr lang="es-ES" sz="3200" dirty="0"/>
          </a:p>
        </p:txBody>
      </p:sp>
      <p:sp>
        <p:nvSpPr>
          <p:cNvPr id="7" name="6 Rectángulo"/>
          <p:cNvSpPr/>
          <p:nvPr/>
        </p:nvSpPr>
        <p:spPr>
          <a:xfrm>
            <a:off x="5643570" y="5286388"/>
            <a:ext cx="1357322" cy="2857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srcRect/>
          <a:stretch>
            <a:fillRect/>
          </a:stretch>
        </p:blipFill>
        <p:spPr bwMode="auto">
          <a:xfrm>
            <a:off x="1785918" y="3357562"/>
            <a:ext cx="5834052" cy="3235247"/>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428736"/>
            <a:ext cx="8858280" cy="4883153"/>
          </a:xfrm>
        </p:spPr>
        <p:txBody>
          <a:bodyPr>
            <a:normAutofit/>
          </a:bodyPr>
          <a:lstStyle/>
          <a:p>
            <a:r>
              <a:rPr lang="es-ES_tradnl" sz="3200" dirty="0" smtClean="0"/>
              <a:t>Se abrirá un asistente en el que habrá que especificar el nombre del dominio con el que quieres crear la relación de confianza. </a:t>
            </a:r>
            <a:endParaRPr lang="es-ES" sz="3200" dirty="0"/>
          </a:p>
        </p:txBody>
      </p:sp>
      <p:sp>
        <p:nvSpPr>
          <p:cNvPr id="7" name="6 Rectángulo"/>
          <p:cNvSpPr/>
          <p:nvPr/>
        </p:nvSpPr>
        <p:spPr>
          <a:xfrm>
            <a:off x="3929058" y="6072206"/>
            <a:ext cx="785818" cy="2143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srcRect/>
          <a:stretch>
            <a:fillRect/>
          </a:stretch>
        </p:blipFill>
        <p:spPr bwMode="auto">
          <a:xfrm>
            <a:off x="1071538" y="2500306"/>
            <a:ext cx="7029450" cy="3314700"/>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428736"/>
            <a:ext cx="8858280" cy="4883153"/>
          </a:xfrm>
        </p:spPr>
        <p:txBody>
          <a:bodyPr>
            <a:normAutofit/>
          </a:bodyPr>
          <a:lstStyle/>
          <a:p>
            <a:r>
              <a:rPr lang="es-ES_tradnl" sz="3200" dirty="0" smtClean="0"/>
              <a:t>Hay que seleccionar el tipo de relación de confianza que queremos crear.</a:t>
            </a:r>
            <a:endParaRPr lang="es-ES" sz="3200" dirty="0"/>
          </a:p>
        </p:txBody>
      </p:sp>
      <p:sp>
        <p:nvSpPr>
          <p:cNvPr id="7" name="6 Rectángulo"/>
          <p:cNvSpPr/>
          <p:nvPr/>
        </p:nvSpPr>
        <p:spPr>
          <a:xfrm>
            <a:off x="3643306" y="5000636"/>
            <a:ext cx="4143404"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1142976" y="2500306"/>
            <a:ext cx="6991350" cy="4019550"/>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428736"/>
            <a:ext cx="8858280" cy="4883153"/>
          </a:xfrm>
        </p:spPr>
        <p:txBody>
          <a:bodyPr>
            <a:normAutofit/>
          </a:bodyPr>
          <a:lstStyle/>
          <a:p>
            <a:r>
              <a:rPr lang="es-ES_tradnl" sz="3200" dirty="0" smtClean="0"/>
              <a:t>Hay que seleccionar la dirección de la confianza.</a:t>
            </a:r>
            <a:endParaRPr lang="es-ES" sz="3200" dirty="0"/>
          </a:p>
        </p:txBody>
      </p:sp>
      <p:sp>
        <p:nvSpPr>
          <p:cNvPr id="7" name="6 Rectángulo"/>
          <p:cNvSpPr/>
          <p:nvPr/>
        </p:nvSpPr>
        <p:spPr>
          <a:xfrm>
            <a:off x="3643306" y="4286256"/>
            <a:ext cx="4143404"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srcRect/>
          <a:stretch>
            <a:fillRect/>
          </a:stretch>
        </p:blipFill>
        <p:spPr bwMode="auto">
          <a:xfrm>
            <a:off x="1571604" y="3181350"/>
            <a:ext cx="6734173" cy="3526989"/>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428736"/>
            <a:ext cx="8858280" cy="4883153"/>
          </a:xfrm>
        </p:spPr>
        <p:txBody>
          <a:bodyPr>
            <a:normAutofit/>
          </a:bodyPr>
          <a:lstStyle/>
          <a:p>
            <a:r>
              <a:rPr lang="es-ES_tradnl" sz="3200" dirty="0" smtClean="0"/>
              <a:t>Hay que seleccionar si queremos crear la relación de confianza en ambos dominios a la vez o individualmente.</a:t>
            </a:r>
            <a:endParaRPr lang="es-ES" sz="3200" dirty="0"/>
          </a:p>
        </p:txBody>
      </p:sp>
      <p:sp>
        <p:nvSpPr>
          <p:cNvPr id="7" name="6 Rectángulo"/>
          <p:cNvSpPr/>
          <p:nvPr/>
        </p:nvSpPr>
        <p:spPr>
          <a:xfrm>
            <a:off x="3929058" y="5929330"/>
            <a:ext cx="4143404"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srcRect/>
          <a:stretch>
            <a:fillRect/>
          </a:stretch>
        </p:blipFill>
        <p:spPr bwMode="auto">
          <a:xfrm>
            <a:off x="1142976" y="3071810"/>
            <a:ext cx="7029450" cy="3390900"/>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428736"/>
            <a:ext cx="8858280" cy="4883153"/>
          </a:xfrm>
        </p:spPr>
        <p:txBody>
          <a:bodyPr>
            <a:normAutofit/>
          </a:bodyPr>
          <a:lstStyle/>
          <a:p>
            <a:r>
              <a:rPr lang="es-ES_tradnl" sz="3200" dirty="0" smtClean="0"/>
              <a:t>Hay que introducir un nombre de usuario </a:t>
            </a:r>
            <a:r>
              <a:rPr lang="es-ES_tradnl" sz="3200" dirty="0" smtClean="0"/>
              <a:t>con privilegios administrativos en el dominio </a:t>
            </a:r>
            <a:r>
              <a:rPr lang="es-ES_tradnl" sz="3200" dirty="0" smtClean="0"/>
              <a:t>indicado y su contraseña.</a:t>
            </a:r>
            <a:endParaRPr lang="es-ES" sz="3200" dirty="0"/>
          </a:p>
        </p:txBody>
      </p:sp>
      <p:sp>
        <p:nvSpPr>
          <p:cNvPr id="7" name="6 Rectángulo"/>
          <p:cNvSpPr/>
          <p:nvPr/>
        </p:nvSpPr>
        <p:spPr>
          <a:xfrm>
            <a:off x="3714744" y="5429264"/>
            <a:ext cx="4143404"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srcRect/>
          <a:stretch>
            <a:fillRect/>
          </a:stretch>
        </p:blipFill>
        <p:spPr bwMode="auto">
          <a:xfrm>
            <a:off x="2285984" y="3071810"/>
            <a:ext cx="5214925" cy="3412760"/>
          </a:xfrm>
          <a:prstGeom prst="rect">
            <a:avLst/>
          </a:prstGeom>
          <a:noFill/>
          <a:ln w="9525">
            <a:noFill/>
            <a:miter lim="800000"/>
            <a:headEnd/>
            <a:tailEnd/>
          </a:ln>
          <a:effectLst/>
        </p:spPr>
      </p:pic>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785926"/>
            <a:ext cx="8858280" cy="4525963"/>
          </a:xfrm>
        </p:spPr>
        <p:txBody>
          <a:bodyPr>
            <a:normAutofit/>
          </a:bodyPr>
          <a:lstStyle/>
          <a:p>
            <a:r>
              <a:rPr lang="es-ES_tradnl" sz="3200" dirty="0" smtClean="0"/>
              <a:t>Hay que elegir el Nivel de autenticación.</a:t>
            </a:r>
            <a:endParaRPr lang="es-ES" sz="3200" dirty="0"/>
          </a:p>
        </p:txBody>
      </p:sp>
      <p:sp>
        <p:nvSpPr>
          <p:cNvPr id="7" name="6 Rectángulo"/>
          <p:cNvSpPr/>
          <p:nvPr/>
        </p:nvSpPr>
        <p:spPr>
          <a:xfrm>
            <a:off x="4000496" y="4429132"/>
            <a:ext cx="3357586"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785926"/>
            <a:ext cx="8858280" cy="4525963"/>
          </a:xfrm>
        </p:spPr>
        <p:txBody>
          <a:bodyPr>
            <a:normAutofit/>
          </a:bodyPr>
          <a:lstStyle/>
          <a:p>
            <a:r>
              <a:rPr lang="es-ES_tradnl" sz="3200" dirty="0" smtClean="0"/>
              <a:t>La relación de confianza ya se ha creado.</a:t>
            </a:r>
            <a:endParaRPr lang="es-ES" sz="3200" dirty="0"/>
          </a:p>
        </p:txBody>
      </p:sp>
      <p:pic>
        <p:nvPicPr>
          <p:cNvPr id="14338" name="Picture 2"/>
          <p:cNvPicPr>
            <a:picLocks noChangeAspect="1" noChangeArrowheads="1"/>
          </p:cNvPicPr>
          <p:nvPr/>
        </p:nvPicPr>
        <p:blipFill>
          <a:blip r:embed="rId3"/>
          <a:srcRect/>
          <a:stretch>
            <a:fillRect/>
          </a:stretch>
        </p:blipFill>
        <p:spPr bwMode="auto">
          <a:xfrm>
            <a:off x="214282" y="2714620"/>
            <a:ext cx="4211115" cy="3714776"/>
          </a:xfrm>
          <a:prstGeom prst="rect">
            <a:avLst/>
          </a:prstGeom>
          <a:noFill/>
          <a:ln w="9525">
            <a:noFill/>
            <a:miter lim="800000"/>
            <a:headEnd/>
            <a:tailEnd/>
          </a:ln>
          <a:effectLst/>
        </p:spPr>
      </p:pic>
      <p:pic>
        <p:nvPicPr>
          <p:cNvPr id="14339" name="Picture 3"/>
          <p:cNvPicPr>
            <a:picLocks noChangeAspect="1" noChangeArrowheads="1"/>
          </p:cNvPicPr>
          <p:nvPr/>
        </p:nvPicPr>
        <p:blipFill>
          <a:blip r:embed="rId4"/>
          <a:srcRect/>
          <a:stretch>
            <a:fillRect/>
          </a:stretch>
        </p:blipFill>
        <p:spPr bwMode="auto">
          <a:xfrm>
            <a:off x="4500562" y="2714620"/>
            <a:ext cx="4479891" cy="3714776"/>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idx="4294967295"/>
          </p:nvPr>
        </p:nvSpPr>
        <p:spPr>
          <a:xfrm>
            <a:off x="500034" y="274638"/>
            <a:ext cx="8429684" cy="1143000"/>
          </a:xfrm>
        </p:spPr>
        <p:txBody>
          <a:bodyPr>
            <a:noAutofit/>
          </a:bodyPr>
          <a:lstStyle/>
          <a:p>
            <a:r>
              <a:rPr lang="es-ES_tradnl" dirty="0" smtClean="0"/>
              <a:t>PASOS PARA CREAR UNA RELACIÓN DE CONFIANZA</a:t>
            </a:r>
            <a:endParaRPr lang="es-ES" dirty="0"/>
          </a:p>
        </p:txBody>
      </p:sp>
      <p:sp>
        <p:nvSpPr>
          <p:cNvPr id="28675" name="2 Marcador de contenido"/>
          <p:cNvSpPr>
            <a:spLocks noGrp="1"/>
          </p:cNvSpPr>
          <p:nvPr>
            <p:ph idx="4294967295"/>
          </p:nvPr>
        </p:nvSpPr>
        <p:spPr>
          <a:xfrm>
            <a:off x="285720" y="1785926"/>
            <a:ext cx="8858280" cy="4525963"/>
          </a:xfrm>
        </p:spPr>
        <p:txBody>
          <a:bodyPr>
            <a:normAutofit/>
          </a:bodyPr>
          <a:lstStyle/>
          <a:p>
            <a:r>
              <a:rPr lang="es-ES_tradnl" sz="3200" dirty="0" smtClean="0"/>
              <a:t>Una vez creada la relación de confianza, ya podremos compartir recursos con usuarios de los dos bosques.</a:t>
            </a:r>
            <a:endParaRPr lang="es-ES" sz="3200" dirty="0"/>
          </a:p>
        </p:txBody>
      </p:sp>
      <p:pic>
        <p:nvPicPr>
          <p:cNvPr id="15362" name="Picture 2"/>
          <p:cNvPicPr>
            <a:picLocks noChangeAspect="1" noChangeArrowheads="1"/>
          </p:cNvPicPr>
          <p:nvPr/>
        </p:nvPicPr>
        <p:blipFill>
          <a:blip r:embed="rId3"/>
          <a:srcRect/>
          <a:stretch>
            <a:fillRect/>
          </a:stretch>
        </p:blipFill>
        <p:spPr bwMode="auto">
          <a:xfrm>
            <a:off x="1500166" y="3286124"/>
            <a:ext cx="6962775" cy="3381375"/>
          </a:xfrm>
          <a:prstGeom prst="rect">
            <a:avLst/>
          </a:prstGeom>
          <a:noFill/>
          <a:ln w="9525">
            <a:noFill/>
            <a:miter lim="800000"/>
            <a:headEnd/>
            <a:tailEnd/>
          </a:ln>
          <a:effectLst/>
        </p:spPr>
      </p:pic>
      <p:sp>
        <p:nvSpPr>
          <p:cNvPr id="7" name="6 Rectángulo"/>
          <p:cNvSpPr/>
          <p:nvPr/>
        </p:nvSpPr>
        <p:spPr>
          <a:xfrm>
            <a:off x="3643306" y="5715016"/>
            <a:ext cx="1714512" cy="9286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1_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13402</TotalTime>
  <Words>629</Words>
  <Application>Microsoft Office PowerPoint</Application>
  <PresentationFormat>Presentación en pantalla (4:3)</PresentationFormat>
  <Paragraphs>72</Paragraphs>
  <Slides>21</Slides>
  <Notes>18</Notes>
  <HiddenSlides>0</HiddenSlides>
  <MMClips>0</MMClips>
  <ScaleCrop>false</ScaleCrop>
  <HeadingPairs>
    <vt:vector size="4" baseType="variant">
      <vt:variant>
        <vt:lpstr>Tema</vt:lpstr>
      </vt:variant>
      <vt:variant>
        <vt:i4>2</vt:i4>
      </vt:variant>
      <vt:variant>
        <vt:lpstr>Títulos de diapositiva</vt:lpstr>
      </vt:variant>
      <vt:variant>
        <vt:i4>21</vt:i4>
      </vt:variant>
    </vt:vector>
  </HeadingPairs>
  <TitlesOfParts>
    <vt:vector size="23" baseType="lpstr">
      <vt:lpstr>Concurrencia</vt:lpstr>
      <vt:lpstr>1_Concurrencia</vt:lpstr>
      <vt:lpstr>RELACIÓN DE CONFIANZA</vt:lpstr>
      <vt:lpstr>RELACIONES DE CONFIANZA</vt:lpstr>
      <vt:lpstr>RELACIONES DE CONFIANZA. CARACTERÍSTICAS</vt:lpstr>
      <vt:lpstr>RELACIONES DE CONFIANZA. TIPOS</vt:lpstr>
      <vt:lpstr>RELACIONES DE CONFIANZA. TIPOS</vt:lpstr>
      <vt:lpstr>RELACIONES DE CONFIANZA.  ADMINISTRACIÓN</vt:lpstr>
      <vt:lpstr>RELACIONES DE CONFIANZA.  ADMINISTRACIÓN</vt:lpstr>
      <vt:lpstr>DELEGACIÓN DE CONTROL DE DOMINIOS</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lpstr>PASOS PARA CREAR UNA RELACIÓN DE CONFIANZA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RELACIÓN DE CONFIANZA</dc:title>
  <dc:creator>Usuario de Windows</dc:creator>
  <cp:lastModifiedBy>Usuario de Windows</cp:lastModifiedBy>
  <cp:revision>18</cp:revision>
  <dcterms:created xsi:type="dcterms:W3CDTF">2017-09-29T11:59:32Z</dcterms:created>
  <dcterms:modified xsi:type="dcterms:W3CDTF">2017-10-08T19:21:58Z</dcterms:modified>
</cp:coreProperties>
</file>